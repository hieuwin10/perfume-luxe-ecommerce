
<file path=[Content_Types].xml><?xml version="1.0" encoding="utf-8"?>
<Types xmlns="http://schemas.openxmlformats.org/package/2006/content-types">
  <Default Extension="xml" ContentType="application/vnd.openxmlformats-package.core-properties+xml"/>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3925e45494b4636" /><Relationship Type="http://schemas.openxmlformats.org/officeDocument/2006/relationships/extended-properties" Target="/docProps/app.xml" Id="Ree85ee1050b140f0" /><Relationship Type="http://schemas.openxmlformats.org/officeDocument/2006/relationships/officeDocument" Target="/ppt/presentation.xml" Id="R2f74b0d8950c4361"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99b5024db4404636"/>
  </p:sldMasterIdLst>
  <p:notesMasterIdLst>
    <p:notesMasterId xmlns:r="http://schemas.openxmlformats.org/officeDocument/2006/relationships" r:id="Rc30e978f906444b4"/>
  </p:notesMasterIdLst>
  <p:sldIdLst>
    <p:sldId xmlns:r="http://schemas.openxmlformats.org/officeDocument/2006/relationships" id="256" r:id="Re8907c30fe1447e9"/>
    <p:sldId xmlns:r="http://schemas.openxmlformats.org/officeDocument/2006/relationships" id="257" r:id="R1fbe8b1daf6248c6"/>
    <p:sldId xmlns:r="http://schemas.openxmlformats.org/officeDocument/2006/relationships" id="258" r:id="R3ce81a119c4541ef"/>
    <p:sldId xmlns:r="http://schemas.openxmlformats.org/officeDocument/2006/relationships" id="259" r:id="R924a08c5ffb6433c"/>
    <p:sldId xmlns:r="http://schemas.openxmlformats.org/officeDocument/2006/relationships" id="260" r:id="R91d42ada87754053"/>
    <p:sldId xmlns:r="http://schemas.openxmlformats.org/officeDocument/2006/relationships" id="261" r:id="R63eecec3cf9a4255"/>
    <p:sldId xmlns:r="http://schemas.openxmlformats.org/officeDocument/2006/relationships" id="262" r:id="R911e57464f984295"/>
  </p:sldIdLst>
  <p:sldSz cx="12192000" cy="6858000"/>
  <p:notesSz cx="6858000" cy="9144000"/>
  <p:embeddedFontLst>
    <p:embeddedFont>
      <p:font typeface="Lora Medium"/>
      <p:regular xmlns:r="http://schemas.openxmlformats.org/officeDocument/2006/relationships" r:id="Rd635c116580645d0"/>
      <p:italic xmlns:r="http://schemas.openxmlformats.org/officeDocument/2006/relationships" r:id="Rc317561440da4a10"/>
    </p:embeddedFont>
    <p:embeddedFont>
      <p:font typeface="Lora SemiBold"/>
      <p:regular xmlns:r="http://schemas.openxmlformats.org/officeDocument/2006/relationships" r:id="Rac277e23ac6b4b82"/>
      <p:bold xmlns:r="http://schemas.openxmlformats.org/officeDocument/2006/relationships" r:id="Rededf21ef7c940c3"/>
      <p:italic xmlns:r="http://schemas.openxmlformats.org/officeDocument/2006/relationships" r:id="R8cdfe42d5a004c2d"/>
      <p:boldItalic xmlns:r="http://schemas.openxmlformats.org/officeDocument/2006/relationships" r:id="Rad65ec437f8c4d5f"/>
    </p:embeddedFont>
    <p:embeddedFont>
      <p:font typeface="OpenAI Sans"/>
      <p:regular xmlns:r="http://schemas.openxmlformats.org/officeDocument/2006/relationships" r:id="R1575a751e0404342"/>
      <p:bold xmlns:r="http://schemas.openxmlformats.org/officeDocument/2006/relationships" r:id="R7eafde0b481d4dde"/>
      <p:italic xmlns:r="http://schemas.openxmlformats.org/officeDocument/2006/relationships" r:id="R4cdd6f6d018749a0"/>
      <p:boldItalic xmlns:r="http://schemas.openxmlformats.org/officeDocument/2006/relationships" r:id="R33b99bc9a7c64a1f"/>
    </p:embeddedFont>
    <p:embeddedFont>
      <p:font typeface="Roboto"/>
      <p:regular xmlns:r="http://schemas.openxmlformats.org/officeDocument/2006/relationships" r:id="Rb632deae2acd4c6f"/>
      <p:bold xmlns:r="http://schemas.openxmlformats.org/officeDocument/2006/relationships" r:id="R0fac9089b9404c3e"/>
      <p:italic xmlns:r="http://schemas.openxmlformats.org/officeDocument/2006/relationships" r:id="R73ef5fb8bf3143b7"/>
      <p:boldItalic xmlns:r="http://schemas.openxmlformats.org/officeDocument/2006/relationships" r:id="R8b0939a876b1409e"/>
    </p:embeddedFont>
    <p:embeddedFont>
      <p:font typeface="Roboto Medium"/>
      <p:regular xmlns:r="http://schemas.openxmlformats.org/officeDocument/2006/relationships" r:id="R5b8cb77630f946ae"/>
      <p:italic xmlns:r="http://schemas.openxmlformats.org/officeDocument/2006/relationships" r:id="R75604c1fd4ae49aa"/>
    </p:embeddedFont>
    <p:embeddedFont>
      <p:font typeface="Roboto SemiBold"/>
      <p:regular xmlns:r="http://schemas.openxmlformats.org/officeDocument/2006/relationships" r:id="Rd586bb6becee43fd"/>
      <p:bold xmlns:r="http://schemas.openxmlformats.org/officeDocument/2006/relationships" r:id="R48571829a1bf471f"/>
      <p:italic xmlns:r="http://schemas.openxmlformats.org/officeDocument/2006/relationships" r:id="R53dd2ac140b248d2"/>
      <p:boldItalic xmlns:r="http://schemas.openxmlformats.org/officeDocument/2006/relationships" r:id="Rfacb2ee3fdc44805"/>
    </p:embeddedFont>
    <p:embeddedFont>
      <p:font typeface="Roboto Serif 14pt"/>
      <p:regular xmlns:r="http://schemas.openxmlformats.org/officeDocument/2006/relationships" r:id="R783d02697a4e43f0"/>
      <p:bold xmlns:r="http://schemas.openxmlformats.org/officeDocument/2006/relationships" r:id="R14c44fc7a81148d3"/>
      <p:italic xmlns:r="http://schemas.openxmlformats.org/officeDocument/2006/relationships" r:id="Re0e570d3a4664d1a"/>
      <p:boldItalic xmlns:r="http://schemas.openxmlformats.org/officeDocument/2006/relationships" r:id="Rdb745519c91b4f1c"/>
    </p:embeddedFont>
  </p:embeddedFontLst>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902fee2d50844d2d" /><Relationship Type="http://schemas.openxmlformats.org/officeDocument/2006/relationships/slideMaster" Target="/ppt/slideMasters/slideMaster1.xml" Id="R99b5024db4404636" /><Relationship Type="http://schemas.openxmlformats.org/officeDocument/2006/relationships/notesMaster" Target="/ppt/notesMasters/notesMaster1.xml" Id="Rc30e978f906444b4" /><Relationship Type="http://schemas.openxmlformats.org/officeDocument/2006/relationships/presProps" Target="/ppt/presProps.xml" Id="Raf55406b89e940e5" /><Relationship Type="http://schemas.openxmlformats.org/officeDocument/2006/relationships/viewProps" Target="/ppt/viewProps.xml" Id="Rf51126f7b2c547d0" /><Relationship Type="http://schemas.openxmlformats.org/officeDocument/2006/relationships/tableStyles" Target="/ppt/tableStyles.xml" Id="Re94164a2814b4e21" /><Relationship Type="http://schemas.openxmlformats.org/officeDocument/2006/relationships/font" Target="/ppt/fonts/font.dat" Id="Rd635c116580645d0" /><Relationship Type="http://schemas.openxmlformats.org/officeDocument/2006/relationships/font" Target="/ppt/fonts/font2.dat" Id="Rc317561440da4a10" /><Relationship Type="http://schemas.openxmlformats.org/officeDocument/2006/relationships/font" Target="/ppt/fonts/font3.dat" Id="Rac277e23ac6b4b82" /><Relationship Type="http://schemas.openxmlformats.org/officeDocument/2006/relationships/font" Target="/ppt/fonts/font4.dat" Id="Rededf21ef7c940c3" /><Relationship Type="http://schemas.openxmlformats.org/officeDocument/2006/relationships/font" Target="/ppt/fonts/font5.dat" Id="R8cdfe42d5a004c2d" /><Relationship Type="http://schemas.openxmlformats.org/officeDocument/2006/relationships/font" Target="/ppt/fonts/font6.dat" Id="Rad65ec437f8c4d5f" /><Relationship Type="http://schemas.openxmlformats.org/officeDocument/2006/relationships/font" Target="/ppt/fonts/font7.dat" Id="R1575a751e0404342" /><Relationship Type="http://schemas.openxmlformats.org/officeDocument/2006/relationships/font" Target="/ppt/fonts/font8.dat" Id="R7eafde0b481d4dde" /><Relationship Type="http://schemas.openxmlformats.org/officeDocument/2006/relationships/font" Target="/ppt/fonts/font9.dat" Id="R4cdd6f6d018749a0" /><Relationship Type="http://schemas.openxmlformats.org/officeDocument/2006/relationships/font" Target="/ppt/fonts/font10.dat" Id="R33b99bc9a7c64a1f" /><Relationship Type="http://schemas.openxmlformats.org/officeDocument/2006/relationships/font" Target="/ppt/fonts/font11.dat" Id="Rb632deae2acd4c6f" /><Relationship Type="http://schemas.openxmlformats.org/officeDocument/2006/relationships/font" Target="/ppt/fonts/font12.dat" Id="R0fac9089b9404c3e" /><Relationship Type="http://schemas.openxmlformats.org/officeDocument/2006/relationships/font" Target="/ppt/fonts/font13.dat" Id="R73ef5fb8bf3143b7" /><Relationship Type="http://schemas.openxmlformats.org/officeDocument/2006/relationships/font" Target="/ppt/fonts/font14.dat" Id="R8b0939a876b1409e" /><Relationship Type="http://schemas.openxmlformats.org/officeDocument/2006/relationships/font" Target="/ppt/fonts/font15.dat" Id="R5b8cb77630f946ae" /><Relationship Type="http://schemas.openxmlformats.org/officeDocument/2006/relationships/font" Target="/ppt/fonts/font16.dat" Id="R75604c1fd4ae49aa" /><Relationship Type="http://schemas.openxmlformats.org/officeDocument/2006/relationships/font" Target="/ppt/fonts/font17.dat" Id="Rd586bb6becee43fd" /><Relationship Type="http://schemas.openxmlformats.org/officeDocument/2006/relationships/font" Target="/ppt/fonts/font18.dat" Id="R48571829a1bf471f" /><Relationship Type="http://schemas.openxmlformats.org/officeDocument/2006/relationships/font" Target="/ppt/fonts/font19.dat" Id="R53dd2ac140b248d2" /><Relationship Type="http://schemas.openxmlformats.org/officeDocument/2006/relationships/font" Target="/ppt/fonts/font20.dat" Id="Rfacb2ee3fdc44805" /><Relationship Type="http://schemas.openxmlformats.org/officeDocument/2006/relationships/font" Target="/ppt/fonts/font21.dat" Id="R783d02697a4e43f0" /><Relationship Type="http://schemas.openxmlformats.org/officeDocument/2006/relationships/font" Target="/ppt/fonts/font22.dat" Id="R14c44fc7a81148d3" /><Relationship Type="http://schemas.openxmlformats.org/officeDocument/2006/relationships/font" Target="/ppt/fonts/font23.dat" Id="Re0e570d3a4664d1a" /><Relationship Type="http://schemas.openxmlformats.org/officeDocument/2006/relationships/font" Target="/ppt/fonts/font24.dat" Id="Rdb745519c91b4f1c" /><Relationship Type="http://schemas.openxmlformats.org/officeDocument/2006/relationships/slide" Target="/ppt/slides/slide1.xml" Id="Re8907c30fe1447e9" /><Relationship Type="http://schemas.openxmlformats.org/officeDocument/2006/relationships/slide" Target="/ppt/slides/slide2.xml" Id="R1fbe8b1daf6248c6" /><Relationship Type="http://schemas.openxmlformats.org/officeDocument/2006/relationships/slide" Target="/ppt/slides/slide3.xml" Id="R3ce81a119c4541ef" /><Relationship Type="http://schemas.openxmlformats.org/officeDocument/2006/relationships/slide" Target="/ppt/slides/slide4.xml" Id="R924a08c5ffb6433c" /><Relationship Type="http://schemas.openxmlformats.org/officeDocument/2006/relationships/slide" Target="/ppt/slides/slide5.xml" Id="R91d42ada87754053" /><Relationship Type="http://schemas.openxmlformats.org/officeDocument/2006/relationships/slide" Target="/ppt/slides/slide6.xml" Id="R63eecec3cf9a4255" /><Relationship Type="http://schemas.openxmlformats.org/officeDocument/2006/relationships/slide" Target="/ppt/slides/slide7.xml" Id="R911e57464f98429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97170211d4346a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Theme 2">
      <a:dk1>
        <a:srgbClr val="000000"/>
      </a:dk1>
      <a:lt1>
        <a:srgbClr val="FFFFFF"/>
      </a:lt1>
      <a:dk2>
        <a:srgbClr val="0E2841"/>
      </a:dk2>
      <a:lt2>
        <a:srgbClr val="FAFCFE"/>
      </a:lt2>
      <a:accent1>
        <a:srgbClr val="3357B8"/>
      </a:accent1>
      <a:accent2>
        <a:srgbClr val="CFD2D9"/>
      </a:accent2>
      <a:accent3>
        <a:srgbClr val="196B24"/>
      </a:accent3>
      <a:accent4>
        <a:srgbClr val="0F9ED5"/>
      </a:accent4>
      <a:accent5>
        <a:srgbClr val="A02B93"/>
      </a:accent5>
      <a:accent6>
        <a:srgbClr val="4EA72E"/>
      </a:accent6>
      <a:hlink>
        <a:srgbClr val="467886"/>
      </a:hlink>
      <a:folHlink>
        <a:srgbClr val="96607D"/>
      </a:folHlink>
    </a:clrScheme>
    <a:fontScheme name="Lora Roboto">
      <a:majorFont>
        <a:latin typeface="Lora"/>
        <a:ea typeface=""/>
        <a:cs typeface=""/>
      </a:majorFont>
      <a:minorFont>
        <a:latin typeface="Roboto"/>
        <a:ea typeface=""/>
        <a:cs typeface=""/>
      </a:minorFont>
    </a:fontScheme>
    <a:fmtScheme name="Theme 2">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24556e1ca4749f8" /><Relationship Type="http://schemas.openxmlformats.org/officeDocument/2006/relationships/notesMaster" Target="/ppt/notesMasters/notesMaster1.xml" Id="Rab931b0f66444935" /></Relationships>
</file>

<file path=ppt/notesSlides/_rels/notesSlide2.xml.rels>&#65279;<?xml version="1.0" encoding="utf-8"?><Relationships xmlns="http://schemas.openxmlformats.org/package/2006/relationships"><Relationship Type="http://schemas.openxmlformats.org/officeDocument/2006/relationships/slide" Target="/ppt/slides/slide2.xml" Id="R28804d86ec0f4229" /><Relationship Type="http://schemas.openxmlformats.org/officeDocument/2006/relationships/notesMaster" Target="/ppt/notesMasters/notesMaster1.xml" Id="Rb583ae63cacd4900" /></Relationships>
</file>

<file path=ppt/notesSlides/_rels/notesSlide3.xml.rels>&#65279;<?xml version="1.0" encoding="utf-8"?><Relationships xmlns="http://schemas.openxmlformats.org/package/2006/relationships"><Relationship Type="http://schemas.openxmlformats.org/officeDocument/2006/relationships/slide" Target="/ppt/slides/slide3.xml" Id="R36ec32fa45f64e1d" /><Relationship Type="http://schemas.openxmlformats.org/officeDocument/2006/relationships/notesMaster" Target="/ppt/notesMasters/notesMaster1.xml" Id="R59941678d0f4419c" /></Relationships>
</file>

<file path=ppt/notesSlides/_rels/notesSlide4.xml.rels>&#65279;<?xml version="1.0" encoding="utf-8"?><Relationships xmlns="http://schemas.openxmlformats.org/package/2006/relationships"><Relationship Type="http://schemas.openxmlformats.org/officeDocument/2006/relationships/slide" Target="/ppt/slides/slide4.xml" Id="Rdd3a0915fa21476f" /><Relationship Type="http://schemas.openxmlformats.org/officeDocument/2006/relationships/notesMaster" Target="/ppt/notesMasters/notesMaster1.xml" Id="R873f62797bee4f92" /></Relationships>
</file>

<file path=ppt/notesSlides/_rels/notesSlide5.xml.rels>&#65279;<?xml version="1.0" encoding="utf-8"?><Relationships xmlns="http://schemas.openxmlformats.org/package/2006/relationships"><Relationship Type="http://schemas.openxmlformats.org/officeDocument/2006/relationships/slide" Target="/ppt/slides/slide5.xml" Id="R4b9641d48db7427d" /><Relationship Type="http://schemas.openxmlformats.org/officeDocument/2006/relationships/notesMaster" Target="/ppt/notesMasters/notesMaster1.xml" Id="Raaceb857acdb423f" /></Relationships>
</file>

<file path=ppt/notesSlides/_rels/notesSlide6.xml.rels>&#65279;<?xml version="1.0" encoding="utf-8"?><Relationships xmlns="http://schemas.openxmlformats.org/package/2006/relationships"><Relationship Type="http://schemas.openxmlformats.org/officeDocument/2006/relationships/slide" Target="/ppt/slides/slide6.xml" Id="Rb6bd082701c642f1" /><Relationship Type="http://schemas.openxmlformats.org/officeDocument/2006/relationships/notesMaster" Target="/ppt/notesMasters/notesMaster1.xml" Id="Rd2c79514b7b74aad" /></Relationships>
</file>

<file path=ppt/notesSlides/_rels/notesSlide7.xml.rels>&#65279;<?xml version="1.0" encoding="utf-8"?><Relationships xmlns="http://schemas.openxmlformats.org/package/2006/relationships"><Relationship Type="http://schemas.openxmlformats.org/officeDocument/2006/relationships/slide" Target="/ppt/slides/slide7.xml" Id="R34c959aa071347ae" /><Relationship Type="http://schemas.openxmlformats.org/officeDocument/2006/relationships/notesMaster" Target="/ppt/notesMasters/notesMaster1.xml" Id="R6cd6f71b35b8455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Phạm vi là source commit b7e3899 và kiểm tra mới trong phiên chiều. Không sử dụng kết quả phiên test buổi trưa. Chưa có dữ liệu bán hàng thật; đây là review cơ hội, không phải dự báo doanh thu. Nguồn: source code và test run ngày 15/10/2026.</a:t>
            </a:r>
            <a:endParaRPr/>
          </a:p>
          <a:p xmlns:a="http://schemas.openxmlformats.org/drawingml/2006/main">
            <a:r>
              <a:t/>
            </a:r>
            <a:endParaRPr/>
          </a:p>
          <a:p xmlns:a="http://schemas.openxmlformats.org/drawingml/2006/main">
            <a:r>
              <a:t>Build evidence: commit b7e3899. Review date 15/10/2026, afternoon.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Bằng chứng: dotnet test 404 passed / 0 failed / 0 skipped; Release build 0 warnings / 0 errors; 17 GET probes và LocalDB scratch. Không có KPI doanh thu hay conversion. Nguồn: PerfumeEcommerce.sln, src/Perfume.Web/Program.cs, test run phiên chiều 15/10/2026.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Build evidence: commit b7e3899. Review date 15/10/2026, afternoon.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Đây là giả thuyết kinh doanh cần pilot, không phải tính năng hay kết quả đã có. Quiz vẫn để giai đoạn sau theo quyết định trước đó. Đo conversion, repeat rate, gross/contribution margin và voucher redemption bằng đơn thực.</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Build evidence: commit b7e3899. Review date 15/10/2026, afternoon.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Hai phát hiện P1 được trích từ appsettings.Development.json, Program.cs:79-102 và DatabaseSchemaUpgrader.cs:287-301. Khoảng trống kinh doanh là chưa có dữ liệu thực để tính contribution margin. Chưa dùng noon report.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Build evidence: commit b7e3899. Review date 15/10/2026, afternoon.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Đề xuất KPI cho pilot. Hiện code/test run chưa cung cấp dữ liệu bán hàng đủ để tính. Nguồn tham chiếu: docs/BUSINESS_FEATURES.md dùng để hiểu thuật ngữ; công thức lãi đóng góp là đề xuất đo lường, không phải KPI đã tính.</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Build evidence: commit b7e3899. Review date 15/10/2026, afternoon.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Thứ tự được đề xuất từ kết quả source review. Ngưỡng KPI cần chủ sở hữu kinh doanh xác định trước pilot. Không đưa ra dự báo về quy mô hay thời hạn tăng trưởng.</a:t>
            </a:r>
          </a:p>
          <a:p xmlns:a="http://schemas.openxmlformats.org/drawingml/2006/main">
            <a:r>
              <a:t/>
            </a:r>
          </a:p>
          <a:p xmlns:a="http://schemas.openxmlformats.org/drawingml/2006/main">
            <a:r>
              <a:t>Build evidence: commit b7e3899. Review date 15/10/2026, afternoon.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Câu hỏi điều hành: 1) Nhóm khách hàng nào ưu tiên? 2) Dòng nước hoa/sản phẩm nào làm chủ lực? 3) Mức contribution margin tối thiểu nào chấp nhận được sau giảm giá, giao hàng và hoàn/hủy?</a:t>
            </a:r>
            <a:endParaRPr/>
          </a:p>
          <a:p xmlns:a="http://schemas.openxmlformats.org/drawingml/2006/main">
            <a:r>
              <a:t/>
            </a:r>
            <a:endParaRPr/>
          </a:p>
          <a:p xmlns:a="http://schemas.openxmlformats.org/drawingml/2006/main">
            <a:r>
              <a:t>Build evidence: commit b7e3899. Review date 15/10/2026, afternoon.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355010509cc48c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1be123dded4432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a6171d59a8f419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488c23c90cf408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bee38647f474fe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b7e2d9616bf4aaf"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32145cd3bce74f55"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3cb765e674f242aa"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b="1" i="0">
                <a:latin typeface="Lora SemiBold"/>
                <a:ea typeface="Lora SemiBold"/>
                <a:cs typeface="Lora SemiBold"/>
              </a:defRPr>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699" y="6279294"/>
            <a:ext cx="8129411"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294"/>
            <a:ext cx="8705144"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294"/>
            <a:ext cx="7493000"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4826000"/>
            <a:ext cx="2595934" cy="1168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699" y="6279294"/>
            <a:ext cx="8466647"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4826000"/>
            <a:ext cx="2595934" cy="1168400"/>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4826000"/>
            <a:ext cx="2595934" cy="1168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4826000"/>
            <a:ext cx="2595934" cy="1168400"/>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699" y="6279294"/>
            <a:ext cx="7361767"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294"/>
            <a:ext cx="7587544"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a27496f40ef4a62" /><Relationship Type="http://schemas.openxmlformats.org/officeDocument/2006/relationships/slideLayout" Target="/ppt/slideLayouts/slideLayout1.xml" Id="R07169db6674a4302" /><Relationship Type="http://schemas.openxmlformats.org/officeDocument/2006/relationships/slideLayout" Target="/ppt/slideLayouts/slideLayout2.xml" Id="R57731dc3d743499e" /><Relationship Type="http://schemas.openxmlformats.org/officeDocument/2006/relationships/slideLayout" Target="/ppt/slideLayouts/slideLayout3.xml" Id="R2883ebe195754f49" /><Relationship Type="http://schemas.openxmlformats.org/officeDocument/2006/relationships/slideLayout" Target="/ppt/slideLayouts/slideLayout4.xml" Id="Rb167831205a24020" /><Relationship Type="http://schemas.openxmlformats.org/officeDocument/2006/relationships/slideLayout" Target="/ppt/slideLayouts/slideLayout5.xml" Id="R593e0b8ceb0a482b" /><Relationship Type="http://schemas.openxmlformats.org/officeDocument/2006/relationships/slideLayout" Target="/ppt/slideLayouts/slideLayout6.xml" Id="R4cfe8dafa1ee4e99" /><Relationship Type="http://schemas.openxmlformats.org/officeDocument/2006/relationships/slideLayout" Target="/ppt/slideLayouts/slideLayout7.xml" Id="Re801b49b872d461e" /><Relationship Type="http://schemas.openxmlformats.org/officeDocument/2006/relationships/slideLayout" Target="/ppt/slideLayouts/slideLayout8.xml" Id="R6763ebc0643f4cdd" /></Relationships>
</file>

<file path=ppt/slideMasters/slideMaster1.xml><?xml version="1.0" encoding="utf-8"?>
<p:sldMaster xmlns:p="http://schemas.openxmlformats.org/presentationml/2006/main">
  <p:cSld>
    <p:bg>
      <p:bgPr>
        <a:solidFill xmlns:a="http://schemas.openxmlformats.org/drawingml/2006/main">
          <a:schemeClr val="bg2"/>
        </a:solidFill>
      </p:bgPr>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294"/>
            <a:ext cx="7531100" cy="241898"/>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7169db6674a4302"/>
    <p:sldLayoutId xmlns:r="http://schemas.openxmlformats.org/officeDocument/2006/relationships" id="2147483650" r:id="R57731dc3d743499e"/>
    <p:sldLayoutId xmlns:r="http://schemas.openxmlformats.org/officeDocument/2006/relationships" id="2147483651" r:id="R2883ebe195754f49"/>
    <p:sldLayoutId xmlns:r="http://schemas.openxmlformats.org/officeDocument/2006/relationships" id="2147483652" r:id="Rb167831205a24020"/>
    <p:sldLayoutId xmlns:r="http://schemas.openxmlformats.org/officeDocument/2006/relationships" id="2147483653" r:id="R593e0b8ceb0a482b"/>
    <p:sldLayoutId xmlns:r="http://schemas.openxmlformats.org/officeDocument/2006/relationships" id="2147483654" r:id="R4cfe8dafa1ee4e99"/>
    <p:sldLayoutId xmlns:r="http://schemas.openxmlformats.org/officeDocument/2006/relationships" id="2147483655" r:id="Re801b49b872d461e"/>
    <p:sldLayoutId xmlns:r="http://schemas.openxmlformats.org/officeDocument/2006/relationships" id="2147483656" r:id="R6763ebc0643f4cdd"/>
  </p:sldLayoutIdLst>
  <p:hf hdr="0" dt="0"/>
  <p:txStyles>
    <p:titleStyle>
      <a:lvl1pPr xmlns:a="http://schemas.openxmlformats.org/drawingml/2006/main" algn="l" defTabSz="914400">
        <a:lnSpc>
          <a:spcPct val="90000"/>
        </a:lnSpc>
        <a:spcBef>
          <a:spcPct val="0"/>
        </a:spcBef>
        <a:buNone/>
        <a:defRPr sz="2900" b="1" i="0" kern="1200">
          <a:solidFill>
            <a:schemeClr val="tx1"/>
          </a:solidFill>
          <a:latin typeface="Lora SemiBold"/>
          <a:ea typeface="Lora SemiBold"/>
          <a:cs typeface="Lora SemiBold"/>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520"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Theme 2">
      <a:dk1>
        <a:srgbClr val="000000"/>
      </a:dk1>
      <a:lt1>
        <a:srgbClr val="FFFFFF"/>
      </a:lt1>
      <a:dk2>
        <a:srgbClr val="0E2841"/>
      </a:dk2>
      <a:lt2>
        <a:srgbClr val="FAFCFE"/>
      </a:lt2>
      <a:accent1>
        <a:srgbClr val="3357B8"/>
      </a:accent1>
      <a:accent2>
        <a:srgbClr val="CFD2D9"/>
      </a:accent2>
      <a:accent3>
        <a:srgbClr val="196B24"/>
      </a:accent3>
      <a:accent4>
        <a:srgbClr val="0F9ED5"/>
      </a:accent4>
      <a:accent5>
        <a:srgbClr val="A02B93"/>
      </a:accent5>
      <a:accent6>
        <a:srgbClr val="4EA72E"/>
      </a:accent6>
      <a:hlink>
        <a:srgbClr val="467886"/>
      </a:hlink>
      <a:folHlink>
        <a:srgbClr val="96607D"/>
      </a:folHlink>
    </a:clrScheme>
    <a:fontScheme name="Lora Roboto">
      <a:majorFont>
        <a:latin typeface="Lora"/>
        <a:ea typeface=""/>
        <a:cs typeface=""/>
      </a:majorFont>
      <a:minorFont>
        <a:latin typeface="Roboto"/>
        <a:ea typeface=""/>
        <a:cs typeface=""/>
      </a:minorFont>
    </a:fontScheme>
    <a:fmtScheme name="Theme 2">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b1c815595614c6f" /><Relationship Type="http://schemas.openxmlformats.org/officeDocument/2006/relationships/notesSlide" Target="/ppt/notesSlides/notesSlide1.xml" Id="Ra6e39bb96e464c77"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bed972ac8eb84c6d" /><Relationship Type="http://schemas.openxmlformats.org/officeDocument/2006/relationships/notesSlide" Target="/ppt/notesSlides/notesSlide2.xml" Id="R64a36134b8fb4ff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6416e39263448f4" /><Relationship Type="http://schemas.openxmlformats.org/officeDocument/2006/relationships/notesSlide" Target="/ppt/notesSlides/notesSlide3.xml" Id="R9c87a885a1964f8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88f0183adc148e5" /><Relationship Type="http://schemas.openxmlformats.org/officeDocument/2006/relationships/notesSlide" Target="/ppt/notesSlides/notesSlide4.xml" Id="R080512deaeb845c3"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d7d6d50000064bb7" /><Relationship Type="http://schemas.openxmlformats.org/officeDocument/2006/relationships/notesSlide" Target="/ppt/notesSlides/notesSlide5.xml" Id="R7639ea5fdd664b0e" /></Relationships>
</file>

<file path=ppt/slides/_rels/slide6.xml.rels>&#65279;<?xml version="1.0" encoding="utf-8"?><Relationships xmlns="http://schemas.openxmlformats.org/package/2006/relationships"><Relationship Type="http://schemas.openxmlformats.org/officeDocument/2006/relationships/slideLayout" Target="/ppt/slideLayouts/slideLayout5.xml" Id="R9cb4b6152ead4100" /><Relationship Type="http://schemas.openxmlformats.org/officeDocument/2006/relationships/notesSlide" Target="/ppt/notesSlides/notesSlide6.xml" Id="R66d130af96a3401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701e5dd95094094" /><Relationship Type="http://schemas.openxmlformats.org/officeDocument/2006/relationships/notesSlide" Target="/ppt/notesSlides/notesSlide7.xml" Id="R957bfec6206d4877"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706809B0-D483-45C1-B580-B57BB5CC520A}"/>
              </a:ext>
            </a:extLst>
          </p:cNvPr>
          <p:cNvSpPr>
            <a:spLocks xmlns:a="http://schemas.openxmlformats.org/drawingml/2006/main" noGrp="1"/>
          </p:cNvSpPr>
          <p:nvPr>
            <p:ph type="ctrTitle" idx="0"/>
          </p:nvPr>
        </p:nvSpPr>
        <p:spPr>
          <a:xfrm xmlns:a="http://schemas.openxmlformats.org/drawingml/2006/main">
            <a:off x="569969" y="1444887"/>
            <a:ext cx="9448800" cy="1726468"/>
          </a:xfrm>
        </p:spPr>
        <p:txBody>
          <a:bodyPr xmlns:a="http://schemas.openxmlformats.org/drawingml/2006/main" anchor="t">
            <a:noAutofit/>
          </a:bodyPr>
          <a:lstStyle xmlns:a="http://schemas.openxmlformats.org/drawingml/2006/main"/>
          <a:p xmlns:a="http://schemas.openxmlformats.org/drawingml/2006/main">
            <a:r>
              <a:rPr sz="5500">
                <a:solidFill>
                  <a:schemeClr val="accent1"/>
                </a:solidFill>
                <a:latin typeface="Lora Medium"/>
                <a:ea typeface="Lora Medium"/>
                <a:cs typeface="Lora Medium"/>
              </a:rPr>
              <a:t>Rà soát kinh doanh</a:t>
            </a:r>
          </a:p>
          <a:p xmlns:a="http://schemas.openxmlformats.org/drawingml/2006/main">
            <a:r>
              <a:rPr sz="5500">
                <a:solidFill>
                  <a:schemeClr val="accent1"/>
                </a:solidFill>
                <a:latin typeface="Lora Medium"/>
                <a:ea typeface="Lora Medium"/>
                <a:cs typeface="Lora Medium"/>
              </a:rPr>
              <a:t>Perfume Luxe</a:t>
            </a:r>
          </a:p>
        </p:txBody>
      </p:sp>
      <p:sp>
        <p:nvSpPr>
          <p:cNvPr id="5" name="Subtitle 4">
            <a:extLst xmlns:a="http://schemas.openxmlformats.org/drawingml/2006/main">
              <a:ext uri="{FF2B5EF4-FFF2-40B4-BE49-F238E27FC236}">
                <a16:creationId xmlns:a16="http://schemas.microsoft.com/office/drawing/2014/main" id="{7DD11E6E-01C0-D6E4-28D7-D7F6B94AF61C}"/>
              </a:ext>
            </a:extLst>
          </p:cNvPr>
          <p:cNvSpPr>
            <a:spLocks xmlns:a="http://schemas.openxmlformats.org/drawingml/2006/main" noGrp="1"/>
          </p:cNvSpPr>
          <p:nvPr>
            <p:ph type="subTitle" idx="1"/>
          </p:nvPr>
        </p:nvSpPr>
        <p:spPr>
          <a:xfrm xmlns:a="http://schemas.openxmlformats.org/drawingml/2006/main">
            <a:off x="603019" y="5077241"/>
            <a:ext cx="6304556" cy="1076208"/>
          </a:xfrm>
          <a:prstGeom xmlns:a="http://schemas.openxmlformats.org/drawingml/2006/main" prst="rect">
            <a:avLst/>
          </a:prstGeom>
          <a:noFill xmlns:a="http://schemas.openxmlformats.org/drawingml/2006/main"/>
        </p:spPr>
        <p:txBody>
          <a:bodyPr xmlns:a="http://schemas.openxmlformats.org/drawingml/2006/main">
            <a:noAutofit/>
          </a:bodyPr>
          <a:lstStyle xmlns:a="http://schemas.openxmlformats.org/drawingml/2006/main"/>
          <a:p xmlns:a="http://schemas.openxmlformats.org/drawingml/2006/main">
            <a:pPr>
              <a:lnSpc>
                <a:spcPct val="120000"/>
              </a:lnSpc>
              <a:buNone/>
            </a:pPr>
            <a:r>
              <a:rPr sz="1400">
                <a:solidFill>
                  <a:schemeClr val="accent2">
                    <a:lumMod val="50000"/>
                  </a:schemeClr>
                </a:solidFill>
              </a:rPr>
              <a:t>Cơ hội pilot, khoảng trống dữ liệu và quyết định tiếp theo</a:t>
            </a:r>
          </a:p>
        </p:txBody>
      </p:sp>
      <p:sp>
        <p:nvSpPr>
          <p:cNvPr id="6" name="Subtitle 4">
            <a:extLst xmlns:a="http://schemas.openxmlformats.org/drawingml/2006/main">
              <a:ext uri="{FF2B5EF4-FFF2-40B4-BE49-F238E27FC236}">
                <a16:creationId xmlns:a16="http://schemas.microsoft.com/office/drawing/2014/main" id="{C66AB198-0518-67DE-AB81-D65264FDA20F}"/>
              </a:ext>
            </a:extLst>
          </p:cNvPr>
          <p:cNvSpPr>
            <a:spLocks xmlns:a="http://schemas.openxmlformats.org/drawingml/2006/main" noGrp="1"/>
          </p:cNvSpPr>
          <p:nvPr/>
        </p:nvSpPr>
        <p:spPr>
          <a:xfrm xmlns:a="http://schemas.openxmlformats.org/drawingml/2006/main">
            <a:off x="603018" y="4606175"/>
            <a:ext cx="6304556" cy="320279"/>
          </a:xfrm>
          <a:prstGeom xmlns:a="http://schemas.openxmlformats.org/drawingml/2006/main" prst="rect">
            <a:avLst/>
          </a:prstGeom>
          <a:noFill xmlns:a="http://schemas.openxmlformats.org/drawingml/2006/main"/>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r>
              <a:rPr sz="1600" b="1">
                <a:solidFill>
                  <a:schemeClr val="accent1"/>
                </a:solidFill>
                <a:latin typeface="Roboto SemiBold"/>
                <a:ea typeface="Roboto SemiBold"/>
                <a:cs typeface="Roboto SemiBold"/>
              </a:rPr>
              <a:t>15/10/2026 • Phiên chiều</a:t>
            </a:r>
          </a:p>
        </p:txBody>
      </p:sp>
      <p:sp>
        <p:nvSpPr>
          <p:cNvPr id="10" name="Subtitle 4">
            <a:extLst xmlns:a="http://schemas.openxmlformats.org/drawingml/2006/main">
              <a:ext uri="{FF2B5EF4-FFF2-40B4-BE49-F238E27FC236}">
                <a16:creationId xmlns:a16="http://schemas.microsoft.com/office/drawing/2014/main" id="{CC2E0538-5645-7BC8-CF3A-FDF31FD97820}"/>
              </a:ext>
            </a:extLst>
          </p:cNvPr>
          <p:cNvSpPr>
            <a:spLocks xmlns:a="http://schemas.openxmlformats.org/drawingml/2006/main" noGrp="1"/>
          </p:cNvSpPr>
          <p:nvPr/>
        </p:nvSpPr>
        <p:spPr>
          <a:xfrm xmlns:a="http://schemas.openxmlformats.org/drawingml/2006/main">
            <a:off x="603018" y="555606"/>
            <a:ext cx="3578411" cy="345178"/>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r>
              <a:rPr sz="1800">
                <a:solidFill>
                  <a:schemeClr val="accent2">
                    <a:lumMod val="90000"/>
                  </a:schemeClr>
                </a:solidFill>
                <a:latin typeface="Roboto Medium"/>
                <a:ea typeface="Roboto Medium"/>
                <a:cs typeface="Roboto Medium"/>
              </a:rPr>
              <a:t>Perfume Luxe</a:t>
            </a:r>
          </a:p>
        </p:txBody>
      </p:sp>
      <p:sp>
        <p:nvSpPr>
          <p:cNvPr id="7" name="Straight Connector 6">
            <a:extLst xmlns:a="http://schemas.openxmlformats.org/drawingml/2006/main">
              <a:ext uri="{FF2B5EF4-FFF2-40B4-BE49-F238E27FC236}">
                <a16:creationId xmlns:a16="http://schemas.microsoft.com/office/drawing/2014/main" id="{48465757-0A99-418E-8A5B-EF969E8A3A5E}"/>
              </a:ext>
            </a:extLst>
          </p:cNvPr>
          <p:cNvSpPr>
            <a:spLocks xmlns:a="http://schemas.openxmlformats.org/drawingml/2006/main" noGrp="1"/>
          </p:cNvSpPr>
          <p:nvPr/>
        </p:nvSpPr>
        <p:spPr>
          <a:xfrm xmlns:a="http://schemas.openxmlformats.org/drawingml/2006/main">
            <a:off x="-183260" y="3934067"/>
            <a:ext cx="12558520" cy="0"/>
          </a:xfrm>
          <a:prstGeom xmlns:a="http://schemas.openxmlformats.org/drawingml/2006/main" prst="line">
            <a:avLst/>
          </a:prstGeom>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Tree>
    <p:extLst>
      <p:ext uri="{BB962C8B-B14F-4D97-AF65-F5344CB8AC3E}">
        <p14:creationId xmlns:p14="http://schemas.microsoft.com/office/powerpoint/2010/main" val="168508855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534" name="Google Shape;534;p58">
            <a:extLst xmlns:a="http://schemas.openxmlformats.org/drawingml/2006/main">
              <a:ext uri="{FF2B5EF4-FFF2-40B4-BE49-F238E27FC236}">
                <a16:creationId xmlns:a16="http://schemas.microsoft.com/office/drawing/2014/main" id="{75821139-4B28-4D38-8CC6-9EFEACEB8B5E}"/>
              </a:ext>
            </a:extLst>
          </p:cNvPr>
          <p:cNvSpPr>
            <a:spLocks xmlns:a="http://schemas.openxmlformats.org/drawingml/2006/main" noGrp="1"/>
          </p:cNvSpPr>
          <p:nvPr>
            <p:ph idx="1"/>
          </p:nvPr>
        </p:nvSpPr>
        <p:spPr>
          <a:xfrm xmlns:a="http://schemas.openxmlformats.org/drawingml/2006/main">
            <a:off x="393699" y="2812968"/>
            <a:ext cx="5537200" cy="1865909"/>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404/404 test pass; Release build thành công. Chưa có dữ liệu giao dịch thật; database sạch chưa có sản phẩm.</a:t>
            </a:r>
          </a:p>
        </p:txBody>
      </p:sp>
      <p:sp>
        <p:nvSpPr>
          <p:cNvPr id="532" name="Google Shape;532;p58">
            <a:extLst xmlns:a="http://schemas.openxmlformats.org/drawingml/2006/main">
              <a:ext uri="{FF2B5EF4-FFF2-40B4-BE49-F238E27FC236}">
                <a16:creationId xmlns:a16="http://schemas.microsoft.com/office/drawing/2014/main" id="{1C61206A-88BA-40DF-848E-0739814DB2BF}"/>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E2598689-54C9-18A7-3A19-ED76AA08988F}" type="slidenum">
              <a:t>2</a:t>
            </a:fld>
            <a:endParaRPr/>
          </a:p>
        </p:txBody>
      </p:sp>
      <p:sp>
        <p:nvSpPr>
          <p:cNvPr id="2" name="Footer Placeholder 1">
            <a:extLst xmlns:a="http://schemas.openxmlformats.org/drawingml/2006/main">
              <a:ext uri="{FF2B5EF4-FFF2-40B4-BE49-F238E27FC236}">
                <a16:creationId xmlns:a16="http://schemas.microsoft.com/office/drawing/2014/main" id="{51941D6B-3AD0-04BD-76AF-506638666ACC}"/>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
        <p:nvSpPr>
          <p:cNvPr id="5" name="Google Shape;534;p58">
            <a:extLst xmlns:a="http://schemas.openxmlformats.org/drawingml/2006/main">
              <a:ext uri="{FF2B5EF4-FFF2-40B4-BE49-F238E27FC236}">
                <a16:creationId xmlns:a16="http://schemas.microsoft.com/office/drawing/2014/main" id="{A3548D03-1D0F-655D-DD48-D4BF5C80F44D}"/>
              </a:ext>
            </a:extLst>
          </p:cNvPr>
          <p:cNvSpPr>
            <a:spLocks xmlns:a="http://schemas.openxmlformats.org/drawingml/2006/main" noGrp="1"/>
          </p:cNvSpPr>
          <p:nvPr/>
        </p:nvSpPr>
        <p:spPr>
          <a:xfrm xmlns:a="http://schemas.openxmlformats.org/drawingml/2006/main">
            <a:off x="393700" y="2111025"/>
            <a:ext cx="1844403" cy="402442"/>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2000">
                <a:latin typeface="+mj-lt"/>
                <a:ea typeface="+mj-lt"/>
                <a:cs typeface="+mj-lt"/>
              </a:rPr>
              <a:t>NỀN TẢNG</a:t>
            </a:r>
            <a:endParaRPr sz="2000">
              <a:latin typeface="+mj-lt"/>
              <a:ea typeface="+mj-lt"/>
              <a:cs typeface="+mj-lt"/>
            </a:endParaRPr>
          </a:p>
        </p:txBody>
      </p:sp>
      <p:sp>
        <p:nvSpPr>
          <p:cNvPr id="6" name="Google Shape;534;p58">
            <a:extLst xmlns:a="http://schemas.openxmlformats.org/drawingml/2006/main">
              <a:ext uri="{FF2B5EF4-FFF2-40B4-BE49-F238E27FC236}">
                <a16:creationId xmlns:a16="http://schemas.microsoft.com/office/drawing/2014/main" id="{4051D0BE-5D22-BCB4-EADF-44F16643D9F5}"/>
              </a:ext>
            </a:extLst>
          </p:cNvPr>
          <p:cNvSpPr>
            <a:spLocks xmlns:a="http://schemas.openxmlformats.org/drawingml/2006/main" noGrp="1"/>
          </p:cNvSpPr>
          <p:nvPr/>
        </p:nvSpPr>
        <p:spPr>
          <a:xfrm xmlns:a="http://schemas.openxmlformats.org/drawingml/2006/main">
            <a:off x="6260109" y="2826992"/>
            <a:ext cx="5537200" cy="1001086"/>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17 URL probe: 11×200, 3×302, 2×401, 1×404. Smoke LocalDB đã được dọn.</a:t>
            </a:r>
          </a:p>
        </p:txBody>
      </p:sp>
      <p:sp>
        <p:nvSpPr>
          <p:cNvPr id="7" name="Google Shape;534;p58">
            <a:extLst xmlns:a="http://schemas.openxmlformats.org/drawingml/2006/main">
              <a:ext uri="{FF2B5EF4-FFF2-40B4-BE49-F238E27FC236}">
                <a16:creationId xmlns:a16="http://schemas.microsoft.com/office/drawing/2014/main" id="{EE26938C-7FB7-798D-7C48-988932737F6D}"/>
              </a:ext>
            </a:extLst>
          </p:cNvPr>
          <p:cNvSpPr>
            <a:spLocks xmlns:a="http://schemas.openxmlformats.org/drawingml/2006/main" noGrp="1"/>
          </p:cNvSpPr>
          <p:nvPr/>
        </p:nvSpPr>
        <p:spPr>
          <a:xfrm xmlns:a="http://schemas.openxmlformats.org/drawingml/2006/main">
            <a:off x="6260109" y="2344035"/>
            <a:ext cx="5537200" cy="402442"/>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2000">
                <a:latin typeface="+mj-lt"/>
                <a:ea typeface="+mj-lt"/>
                <a:cs typeface="+mj-lt"/>
              </a:rPr>
              <a:t>Bằng chứng phiên chiều</a:t>
            </a:r>
            <a:endParaRPr sz="2000">
              <a:latin typeface="+mj-lt"/>
              <a:ea typeface="+mj-lt"/>
              <a:cs typeface="+mj-lt"/>
            </a:endParaRPr>
          </a:p>
        </p:txBody>
      </p:sp>
      <p:sp>
        <p:nvSpPr>
          <p:cNvPr id="10" name="Title 2">
            <a:extLst xmlns:a="http://schemas.openxmlformats.org/drawingml/2006/main">
              <a:ext uri="{FF2B5EF4-FFF2-40B4-BE49-F238E27FC236}">
                <a16:creationId xmlns:a16="http://schemas.microsoft.com/office/drawing/2014/main" id="{944AF173-BF22-B5ED-B88F-9080D8699E64}"/>
              </a:ext>
            </a:extLst>
          </p:cNvPr>
          <p:cNvSpPr>
            <a:spLocks xmlns:a="http://schemas.openxmlformats.org/drawingml/2006/main" noGrp="1"/>
          </p:cNvSpPr>
          <p:nvPr>
            <p:ph type="title" idx="0"/>
          </p:nvPr>
        </p:nvSpPr>
        <p:spPr>
          <a:xfrm xmlns:a="http://schemas.openxmlformats.org/drawingml/2006/main">
            <a:off x="393699" y="1046195"/>
            <a:ext cx="11403610" cy="623819"/>
          </a:xfrm>
        </p:spPr>
        <p:txBody>
          <a:bodyPr xmlns:a="http://schemas.openxmlformats.org/drawingml/2006/main">
            <a:normAutofit fontScale="100000"/>
          </a:bodyPr>
          <a:lstStyle xmlns:a="http://schemas.openxmlformats.org/drawingml/2006/main"/>
          <a:p xmlns:a="http://schemas.openxmlformats.org/drawingml/2006/main">
            <a:r>
              <a:t>Tóm tắt điều hành</a:t>
            </a:r>
          </a:p>
        </p:txBody>
      </p:sp>
      <p:sp>
        <p:nvSpPr>
          <p:cNvPr id="11" name="Subtitle 4">
            <a:extLst xmlns:a="http://schemas.openxmlformats.org/drawingml/2006/main">
              <a:ext uri="{FF2B5EF4-FFF2-40B4-BE49-F238E27FC236}">
                <a16:creationId xmlns:a16="http://schemas.microsoft.com/office/drawing/2014/main" id="{42E9C51D-AB09-8D83-4157-006D57137348}"/>
              </a:ext>
            </a:extLst>
          </p:cNvPr>
          <p:cNvSpPr>
            <a:spLocks xmlns:a="http://schemas.openxmlformats.org/drawingml/2006/main" noGrp="1"/>
          </p:cNvSpPr>
          <p:nvPr/>
        </p:nvSpPr>
        <p:spPr>
          <a:xfrm xmlns:a="http://schemas.openxmlformats.org/drawingml/2006/main">
            <a:off x="393699" y="392242"/>
            <a:ext cx="3578411" cy="345178"/>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r>
              <a:rPr sz="1800">
                <a:solidFill>
                  <a:schemeClr val="accent1"/>
                </a:solidFill>
                <a:latin typeface="Roboto Medium"/>
                <a:ea typeface="Roboto Medium"/>
                <a:cs typeface="Roboto Medium"/>
              </a:rPr>
              <a:t>BỨC TRANH HIỆN TẠI</a:t>
            </a:r>
          </a:p>
        </p:txBody>
      </p:sp>
      <p:sp>
        <p:nvSpPr>
          <p:cNvPr id="15" name="Straight Connector 14">
            <a:extLst xmlns:a="http://schemas.openxmlformats.org/drawingml/2006/main">
              <a:ext uri="{FF2B5EF4-FFF2-40B4-BE49-F238E27FC236}">
                <a16:creationId xmlns:a16="http://schemas.microsoft.com/office/drawing/2014/main" id="{6439BC54-6CB6-4574-9307-CD1104352155}"/>
              </a:ext>
            </a:extLst>
          </p:cNvPr>
          <p:cNvSpPr>
            <a:spLocks xmlns:a="http://schemas.openxmlformats.org/drawingml/2006/main" noGrp="1"/>
          </p:cNvSpPr>
          <p:nvPr/>
        </p:nvSpPr>
        <p:spPr>
          <a:xfrm xmlns:a="http://schemas.openxmlformats.org/drawingml/2006/main">
            <a:off x="6261100" y="4039769"/>
            <a:ext cx="5537200" cy="0"/>
          </a:xfrm>
          <a:prstGeom xmlns:a="http://schemas.openxmlformats.org/drawingml/2006/main" prst="line">
            <a:avLst/>
          </a:prstGeom>
          <a:ln xmlns:a="http://schemas.openxmlformats.org/drawingml/2006/main" w="12700">
            <a:solidFill>
              <a:schemeClr val="accent2">
                <a:lumMod val="90000"/>
              </a:schemeClr>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6" name="Google Shape;534;p58">
            <a:extLst xmlns:a="http://schemas.openxmlformats.org/drawingml/2006/main">
              <a:ext uri="{FF2B5EF4-FFF2-40B4-BE49-F238E27FC236}">
                <a16:creationId xmlns:a16="http://schemas.microsoft.com/office/drawing/2014/main" id="{108E1773-B682-C5EE-6944-58546A384F37}"/>
              </a:ext>
            </a:extLst>
          </p:cNvPr>
          <p:cNvSpPr>
            <a:spLocks xmlns:a="http://schemas.openxmlformats.org/drawingml/2006/main" noGrp="1"/>
          </p:cNvSpPr>
          <p:nvPr/>
        </p:nvSpPr>
        <p:spPr>
          <a:xfrm xmlns:a="http://schemas.openxmlformats.org/drawingml/2006/main">
            <a:off x="6260109" y="4867987"/>
            <a:ext cx="5537200" cy="1200232"/>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Chọn nhóm khách hàng, sản phẩm chủ lực và ngưỡng lãi đóng góp tối thiểu.</a:t>
            </a:r>
          </a:p>
        </p:txBody>
      </p:sp>
      <p:sp>
        <p:nvSpPr>
          <p:cNvPr id="17" name="Google Shape;534;p58">
            <a:extLst xmlns:a="http://schemas.openxmlformats.org/drawingml/2006/main">
              <a:ext uri="{FF2B5EF4-FFF2-40B4-BE49-F238E27FC236}">
                <a16:creationId xmlns:a16="http://schemas.microsoft.com/office/drawing/2014/main" id="{1C1F2FD8-0D30-C7BF-5234-6F0EE46F0DC3}"/>
              </a:ext>
            </a:extLst>
          </p:cNvPr>
          <p:cNvSpPr>
            <a:spLocks xmlns:a="http://schemas.openxmlformats.org/drawingml/2006/main" noGrp="1"/>
          </p:cNvSpPr>
          <p:nvPr/>
        </p:nvSpPr>
        <p:spPr>
          <a:xfrm xmlns:a="http://schemas.openxmlformats.org/drawingml/2006/main">
            <a:off x="6260109" y="4385030"/>
            <a:ext cx="5537200" cy="402442"/>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2000">
                <a:latin typeface="+mj-lt"/>
                <a:ea typeface="+mj-lt"/>
                <a:cs typeface="+mj-lt"/>
              </a:rPr>
              <a:t>Quyết định cần có</a:t>
            </a:r>
            <a:endParaRPr sz="2000">
              <a:latin typeface="+mj-lt"/>
              <a:ea typeface="+mj-lt"/>
              <a:cs typeface="+mj-lt"/>
            </a:endParaRPr>
          </a:p>
        </p:txBody>
      </p:sp>
      <p:sp>
        <p:nvSpPr>
          <p:cNvPr id="3" name="Rounded Rectangle 2">
            <a:extLst xmlns:a="http://schemas.openxmlformats.org/drawingml/2006/main">
              <a:ext uri="{FF2B5EF4-FFF2-40B4-BE49-F238E27FC236}">
                <a16:creationId xmlns:a16="http://schemas.microsoft.com/office/drawing/2014/main" id="{F16B487F-1A7A-C301-4AB8-8DC1C19839AB}"/>
              </a:ext>
            </a:extLst>
          </p:cNvPr>
          <p:cNvSpPr>
            <a:spLocks xmlns:a="http://schemas.openxmlformats.org/drawingml/2006/main" noGrp="1"/>
          </p:cNvSpPr>
          <p:nvPr/>
        </p:nvSpPr>
        <p:spPr>
          <a:xfrm xmlns:a="http://schemas.openxmlformats.org/drawingml/2006/main">
            <a:off x="2349499" y="2093356"/>
            <a:ext cx="2271780" cy="402442"/>
          </a:xfrm>
          <a:prstGeom xmlns:a="http://schemas.openxmlformats.org/drawingml/2006/main" prst="roundRect">
            <a:avLst>
              <a:gd name="adj" fmla="val 15738"/>
            </a:avLst>
          </a:prstGeom>
          <a:solidFill xmlns:a="http://schemas.openxmlformats.org/drawingml/2006/main">
            <a:schemeClr val="accent1">
              <a:alpha val="24648"/>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a:solidFill>
                  <a:schemeClr val="accent1"/>
                </a:solidFill>
              </a:rPr>
              <a:t>PILOT NHỎ</a:t>
            </a:r>
          </a:p>
        </p:txBody>
      </p:sp>
      <p:sp>
        <p:nvSpPr>
          <p:cNvPr id="14" name="TextBox 13">
            <a:extLst xmlns:a="http://schemas.openxmlformats.org/drawingml/2006/main">
              <a:ext uri="{FF2B5EF4-FFF2-40B4-BE49-F238E27FC236}">
                <a16:creationId xmlns:a16="http://schemas.microsoft.com/office/drawing/2014/main" id="{F3AF61EC-DBA0-BFB1-3293-0BF5DB670691}"/>
              </a:ext>
            </a:extLst>
          </p:cNvPr>
          <p:cNvSpPr>
            <a:spLocks xmlns:a="http://schemas.openxmlformats.org/drawingml/2006/main" noGrp="1"/>
          </p:cNvSpPr>
          <p:nvPr/>
        </p:nvSpPr>
        <p:spPr>
          <a:xfrm xmlns:a="http://schemas.openxmlformats.org/drawingml/2006/main">
            <a:off x="393699" y="4756098"/>
            <a:ext cx="5537199" cy="312725"/>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marL="0" marR="0" lvl="0" indent="0" algn="l" defTabSz="914400">
              <a:lnSpc>
                <a:spcPct val="114000"/>
              </a:lnSpc>
              <a:spcBef>
                <a:spcPts val="0"/>
              </a:spcBef>
              <a:spcAft>
                <a:spcPts val="800"/>
              </a:spcAft>
              <a:buClrTx/>
              <a:buSzTx/>
              <a:buFontTx/>
              <a:buNone/>
            </a:pPr>
            <a:r>
              <a:rPr sz="1800" b="0" i="0" u="none" strike="noStrike" cap="none" spc="0" baseline="0">
                <a:ln>
                  <a:noFill/>
                </a:ln>
                <a:solidFill>
                  <a:srgbClr val="3357B8"/>
                </a:solidFill>
                <a:latin typeface="Helvetica Neue Medium"/>
                <a:ea typeface="Helvetica Neue Medium"/>
                <a:cs typeface="Helvetica Neue Medium"/>
              </a:rPr>
              <a:t>Rủi ro cần đóng</a:t>
            </a:r>
          </a:p>
        </p:txBody>
      </p:sp>
      <p:sp>
        <p:nvSpPr>
          <p:cNvPr id="18" name="Google Shape;534;p58">
            <a:extLst xmlns:a="http://schemas.openxmlformats.org/drawingml/2006/main">
              <a:ext uri="{FF2B5EF4-FFF2-40B4-BE49-F238E27FC236}">
                <a16:creationId xmlns:a16="http://schemas.microsoft.com/office/drawing/2014/main" id="{47E14DB1-10CD-1A00-06DC-F11F90562A04}"/>
              </a:ext>
            </a:extLst>
          </p:cNvPr>
          <p:cNvSpPr>
            <a:spLocks xmlns:a="http://schemas.openxmlformats.org/drawingml/2006/main" noGrp="1"/>
          </p:cNvSpPr>
          <p:nvPr/>
        </p:nvSpPr>
        <p:spPr>
          <a:xfrm xmlns:a="http://schemas.openxmlformats.org/drawingml/2006/main">
            <a:off x="386251" y="5134071"/>
            <a:ext cx="5537200" cy="860329"/>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Tài khoản admin cấu hình mặc định, số bán mẫu và các cảnh báo mapping cần xử lý.</a:t>
            </a:r>
          </a:p>
        </p:txBody>
      </p:sp>
    </p:spTree>
    <p:extLst>
      <p:ext uri="{BB962C8B-B14F-4D97-AF65-F5344CB8AC3E}">
        <p14:creationId xmlns:p14="http://schemas.microsoft.com/office/powerpoint/2010/main" val="77358291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CAD38C25-48AC-5A29-D53A-82080FAF926E}"/>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202359C0-8A7A-196E-DD58-8E6569619F09}" type="slidenum">
              <a:t>3</a:t>
            </a:fld>
            <a:endParaRPr/>
          </a:p>
        </p:txBody>
      </p:sp>
      <p:sp>
        <p:nvSpPr>
          <p:cNvPr id="533" name="Google Shape;533;p58">
            <a:extLst xmlns:a="http://schemas.openxmlformats.org/drawingml/2006/main">
              <a:ext uri="{FF2B5EF4-FFF2-40B4-BE49-F238E27FC236}">
                <a16:creationId xmlns:a16="http://schemas.microsoft.com/office/drawing/2014/main" id="{33E8FE18-95DE-C7EA-9E95-10B82189367E}"/>
              </a:ext>
            </a:extLst>
          </p:cNvPr>
          <p:cNvSpPr>
            <a:spLocks xmlns:a="http://schemas.openxmlformats.org/drawingml/2006/main" noGrp="1"/>
          </p:cNvSpPr>
          <p:nvPr>
            <p:ph type="title" idx="0"/>
          </p:nvPr>
        </p:nvSpPr>
        <p:spPr>
          <a:xfrm xmlns:a="http://schemas.openxmlformats.org/drawingml/2006/main">
            <a:off x="393699" y="344009"/>
            <a:ext cx="11404599" cy="595791"/>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rPr>
                <a:solidFill>
                  <a:schemeClr val="accent1"/>
                </a:solidFill>
              </a:rPr>
              <a:t>Bốn thử nghiệm giá trị cho pilot</a:t>
            </a:r>
            <a:endParaRPr>
              <a:solidFill>
                <a:schemeClr val="accent1"/>
              </a:solidFill>
            </a:endParaRPr>
          </a:p>
        </p:txBody>
      </p:sp>
      <p:sp>
        <p:nvSpPr>
          <p:cNvPr id="7" name="Rounded Rectangle 6">
            <a:extLst xmlns:a="http://schemas.openxmlformats.org/drawingml/2006/main">
              <a:ext uri="{FF2B5EF4-FFF2-40B4-BE49-F238E27FC236}">
                <a16:creationId xmlns:a16="http://schemas.microsoft.com/office/drawing/2014/main" id="{9E3149F3-A7D7-BC8F-C84C-4A4E60EA2799}"/>
              </a:ext>
            </a:extLst>
          </p:cNvPr>
          <p:cNvSpPr>
            <a:spLocks xmlns:a="http://schemas.openxmlformats.org/drawingml/2006/main" noGrp="1"/>
          </p:cNvSpPr>
          <p:nvPr/>
        </p:nvSpPr>
        <p:spPr>
          <a:xfrm xmlns:a="http://schemas.openxmlformats.org/drawingml/2006/main">
            <a:off x="6264412" y="2537496"/>
            <a:ext cx="5533887" cy="1638300"/>
          </a:xfrm>
          <a:prstGeom xmlns:a="http://schemas.openxmlformats.org/drawingml/2006/main" prst="roundRect">
            <a:avLst>
              <a:gd name="adj" fmla="val 3585"/>
            </a:avLst>
          </a:prstGeom>
          <a:noFill xmlns:a="http://schemas.openxmlformats.org/drawingml/2006/main"/>
          <a:ln xmlns:a="http://schemas.openxmlformats.org/drawingml/2006/main" w="12700">
            <a:solidFill>
              <a:schemeClr val="accent2"/>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accent1"/>
              </a:solidFill>
            </a:endParaRPr>
          </a:p>
        </p:txBody>
      </p:sp>
      <p:sp>
        <p:nvSpPr>
          <p:cNvPr id="9" name="Rounded Rectangle 8">
            <a:extLst xmlns:a="http://schemas.openxmlformats.org/drawingml/2006/main">
              <a:ext uri="{FF2B5EF4-FFF2-40B4-BE49-F238E27FC236}">
                <a16:creationId xmlns:a16="http://schemas.microsoft.com/office/drawing/2014/main" id="{5CD1077A-BBDF-3B07-D940-FA5482CB0124}"/>
              </a:ext>
            </a:extLst>
          </p:cNvPr>
          <p:cNvSpPr>
            <a:spLocks xmlns:a="http://schemas.openxmlformats.org/drawingml/2006/main" noGrp="1"/>
          </p:cNvSpPr>
          <p:nvPr/>
        </p:nvSpPr>
        <p:spPr>
          <a:xfrm xmlns:a="http://schemas.openxmlformats.org/drawingml/2006/main">
            <a:off x="409043" y="2537496"/>
            <a:ext cx="5533887" cy="1638300"/>
          </a:xfrm>
          <a:prstGeom xmlns:a="http://schemas.openxmlformats.org/drawingml/2006/main" prst="roundRect">
            <a:avLst>
              <a:gd name="adj" fmla="val 3585"/>
            </a:avLst>
          </a:prstGeom>
          <a:noFill xmlns:a="http://schemas.openxmlformats.org/drawingml/2006/main"/>
          <a:ln xmlns:a="http://schemas.openxmlformats.org/drawingml/2006/main" w="12700">
            <a:solidFill>
              <a:schemeClr val="accent2"/>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accent1"/>
              </a:solidFill>
            </a:endParaRPr>
          </a:p>
        </p:txBody>
      </p:sp>
      <p:sp>
        <p:nvSpPr>
          <p:cNvPr id="10" name="Content Placeholder 10">
            <a:extLst xmlns:a="http://schemas.openxmlformats.org/drawingml/2006/main">
              <a:ext uri="{FF2B5EF4-FFF2-40B4-BE49-F238E27FC236}">
                <a16:creationId xmlns:a16="http://schemas.microsoft.com/office/drawing/2014/main" id="{B54A841D-1EA0-6181-C778-7C851CA6E64E}"/>
              </a:ext>
            </a:extLst>
          </p:cNvPr>
          <p:cNvSpPr>
            <a:spLocks xmlns:a="http://schemas.openxmlformats.org/drawingml/2006/main" noGrp="1"/>
          </p:cNvSpPr>
          <p:nvPr/>
        </p:nvSpPr>
        <p:spPr>
          <a:xfrm xmlns:a="http://schemas.openxmlformats.org/drawingml/2006/main">
            <a:off x="706278" y="3250891"/>
            <a:ext cx="4986886" cy="597539"/>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marR="0" lvl="0" indent="0" algn="l" defTabSz="914400">
              <a:lnSpc>
                <a:spcPct val="100000"/>
              </a:lnSpc>
              <a:spcBef>
                <a:spcPts val="1300"/>
              </a:spcBef>
              <a:spcAft>
                <a:spcPts val="1300"/>
              </a:spcAft>
              <a:buClrTx/>
              <a:buSzTx/>
              <a:buFontTx/>
              <a:buNone/>
            </a:pPr>
            <a:r>
              <a:rPr sz="1600" b="0" i="0" u="none" strike="noStrike" cap="none" spc="0" baseline="0">
                <a:ln>
                  <a:noFill/>
                </a:ln>
                <a:latin typeface="Helvetica Neue"/>
                <a:ea typeface="Helvetica Neue"/>
                <a:cs typeface="Helvetica Neue"/>
              </a:rPr>
              <a:t>Bộ sample theo nhóm mùi; đo chuyển đổi sang chai full-size.</a:t>
            </a:r>
          </a:p>
        </p:txBody>
      </p:sp>
      <p:sp>
        <p:nvSpPr>
          <p:cNvPr id="2" name="Rounded Rectangle 1">
            <a:extLst xmlns:a="http://schemas.openxmlformats.org/drawingml/2006/main">
              <a:ext uri="{FF2B5EF4-FFF2-40B4-BE49-F238E27FC236}">
                <a16:creationId xmlns:a16="http://schemas.microsoft.com/office/drawing/2014/main" id="{B4E203EC-EB81-96EF-66AB-3B6012B4B3EF}"/>
              </a:ext>
            </a:extLst>
          </p:cNvPr>
          <p:cNvSpPr>
            <a:spLocks xmlns:a="http://schemas.openxmlformats.org/drawingml/2006/main" noGrp="1"/>
          </p:cNvSpPr>
          <p:nvPr/>
        </p:nvSpPr>
        <p:spPr>
          <a:xfrm xmlns:a="http://schemas.openxmlformats.org/drawingml/2006/main">
            <a:off x="6264412" y="4370106"/>
            <a:ext cx="5533887" cy="1638300"/>
          </a:xfrm>
          <a:prstGeom xmlns:a="http://schemas.openxmlformats.org/drawingml/2006/main" prst="roundRect">
            <a:avLst>
              <a:gd name="adj" fmla="val 3585"/>
            </a:avLst>
          </a:prstGeom>
          <a:noFill xmlns:a="http://schemas.openxmlformats.org/drawingml/2006/main"/>
          <a:ln xmlns:a="http://schemas.openxmlformats.org/drawingml/2006/main" w="12700">
            <a:solidFill>
              <a:schemeClr val="accent2"/>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accent1"/>
              </a:solidFill>
            </a:endParaRPr>
          </a:p>
        </p:txBody>
      </p:sp>
      <p:sp>
        <p:nvSpPr>
          <p:cNvPr id="4" name="Rounded Rectangle 3">
            <a:extLst xmlns:a="http://schemas.openxmlformats.org/drawingml/2006/main">
              <a:ext uri="{FF2B5EF4-FFF2-40B4-BE49-F238E27FC236}">
                <a16:creationId xmlns:a16="http://schemas.microsoft.com/office/drawing/2014/main" id="{2000F722-C0CE-FDAF-EAFE-20BC4A7F4118}"/>
              </a:ext>
            </a:extLst>
          </p:cNvPr>
          <p:cNvSpPr>
            <a:spLocks xmlns:a="http://schemas.openxmlformats.org/drawingml/2006/main" noGrp="1"/>
          </p:cNvSpPr>
          <p:nvPr/>
        </p:nvSpPr>
        <p:spPr>
          <a:xfrm xmlns:a="http://schemas.openxmlformats.org/drawingml/2006/main">
            <a:off x="409043" y="4370106"/>
            <a:ext cx="5533887" cy="1638300"/>
          </a:xfrm>
          <a:prstGeom xmlns:a="http://schemas.openxmlformats.org/drawingml/2006/main" prst="roundRect">
            <a:avLst>
              <a:gd name="adj" fmla="val 3585"/>
            </a:avLst>
          </a:prstGeom>
          <a:noFill xmlns:a="http://schemas.openxmlformats.org/drawingml/2006/main"/>
          <a:ln xmlns:a="http://schemas.openxmlformats.org/drawingml/2006/main" w="12700">
            <a:solidFill>
              <a:schemeClr val="accent2"/>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accent1"/>
              </a:solidFill>
            </a:endParaRPr>
          </a:p>
        </p:txBody>
      </p:sp>
      <p:sp>
        <p:nvSpPr>
          <p:cNvPr id="11" name="Footer Placeholder 10">
            <a:extLst xmlns:a="http://schemas.openxmlformats.org/drawingml/2006/main">
              <a:ext uri="{FF2B5EF4-FFF2-40B4-BE49-F238E27FC236}">
                <a16:creationId xmlns:a16="http://schemas.microsoft.com/office/drawing/2014/main" id="{A4694142-7504-448C-B110-ABCB1A6DD41E}"/>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
        <p:nvSpPr>
          <p:cNvPr id="12" name="Google Shape;534;p58">
            <a:extLst xmlns:a="http://schemas.openxmlformats.org/drawingml/2006/main">
              <a:ext uri="{FF2B5EF4-FFF2-40B4-BE49-F238E27FC236}">
                <a16:creationId xmlns:a16="http://schemas.microsoft.com/office/drawing/2014/main" id="{F393FB38-1005-6250-1642-93C1A76E0B77}"/>
              </a:ext>
            </a:extLst>
          </p:cNvPr>
          <p:cNvSpPr>
            <a:spLocks xmlns:a="http://schemas.openxmlformats.org/drawingml/2006/main" noGrp="1"/>
          </p:cNvSpPr>
          <p:nvPr/>
        </p:nvSpPr>
        <p:spPr>
          <a:xfrm xmlns:a="http://schemas.openxmlformats.org/drawingml/2006/main">
            <a:off x="393700" y="1649094"/>
            <a:ext cx="11404600" cy="634044"/>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Bắt đầu với sản phẩm và hành vi có thể đo bằng funnel đơn giản.</a:t>
            </a:r>
          </a:p>
        </p:txBody>
      </p:sp>
      <p:sp>
        <p:nvSpPr>
          <p:cNvPr id="13" name="Google Shape;534;p58">
            <a:extLst xmlns:a="http://schemas.openxmlformats.org/drawingml/2006/main">
              <a:ext uri="{FF2B5EF4-FFF2-40B4-BE49-F238E27FC236}">
                <a16:creationId xmlns:a16="http://schemas.microsoft.com/office/drawing/2014/main" id="{A0F4C075-109A-7DDE-18C9-18F128552C24}"/>
              </a:ext>
            </a:extLst>
          </p:cNvPr>
          <p:cNvSpPr>
            <a:spLocks xmlns:a="http://schemas.openxmlformats.org/drawingml/2006/main" noGrp="1"/>
          </p:cNvSpPr>
          <p:nvPr/>
        </p:nvSpPr>
        <p:spPr>
          <a:xfrm xmlns:a="http://schemas.openxmlformats.org/drawingml/2006/main">
            <a:off x="393699" y="1146566"/>
            <a:ext cx="11404599" cy="402442"/>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2000">
                <a:latin typeface="+mj-lt"/>
                <a:ea typeface="+mj-lt"/>
                <a:cs typeface="+mj-lt"/>
              </a:rPr>
              <a:t>Ưu tiên đề xuất đo được trước khi mở rộng</a:t>
            </a:r>
            <a:endParaRPr sz="2000">
              <a:latin typeface="+mj-lt"/>
              <a:ea typeface="+mj-lt"/>
              <a:cs typeface="+mj-lt"/>
            </a:endParaRPr>
          </a:p>
        </p:txBody>
      </p:sp>
      <p:sp>
        <p:nvSpPr>
          <p:cNvPr id="14" name="TextBox 13">
            <a:extLst xmlns:a="http://schemas.openxmlformats.org/drawingml/2006/main">
              <a:ext uri="{FF2B5EF4-FFF2-40B4-BE49-F238E27FC236}">
                <a16:creationId xmlns:a16="http://schemas.microsoft.com/office/drawing/2014/main" id="{49DCE927-F1A4-A9ED-C839-844BB688547F}"/>
              </a:ext>
            </a:extLst>
          </p:cNvPr>
          <p:cNvSpPr>
            <a:spLocks xmlns:a="http://schemas.openxmlformats.org/drawingml/2006/main" noGrp="1"/>
          </p:cNvSpPr>
          <p:nvPr/>
        </p:nvSpPr>
        <p:spPr>
          <a:xfrm xmlns:a="http://schemas.openxmlformats.org/drawingml/2006/main">
            <a:off x="702967" y="2793808"/>
            <a:ext cx="4986886" cy="312725"/>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marL="0" marR="0" lvl="0" indent="0" algn="l" defTabSz="914400">
              <a:lnSpc>
                <a:spcPct val="114000"/>
              </a:lnSpc>
              <a:spcBef>
                <a:spcPts val="0"/>
              </a:spcBef>
              <a:spcAft>
                <a:spcPts val="800"/>
              </a:spcAft>
              <a:buClrTx/>
              <a:buSzTx/>
              <a:buFontTx/>
              <a:buNone/>
            </a:pPr>
            <a:r>
              <a:rPr sz="1800" b="0" i="0" u="none" strike="noStrike" cap="none" spc="0" baseline="0">
                <a:ln>
                  <a:noFill/>
                </a:ln>
                <a:solidFill>
                  <a:srgbClr val="3357B8"/>
                </a:solidFill>
                <a:latin typeface="Helvetica Neue Medium"/>
                <a:ea typeface="Helvetica Neue Medium"/>
                <a:cs typeface="Helvetica Neue Medium"/>
              </a:rPr>
              <a:t>Discovery set</a:t>
            </a:r>
          </a:p>
        </p:txBody>
      </p:sp>
      <p:sp>
        <p:nvSpPr>
          <p:cNvPr id="16" name="Content Placeholder 10">
            <a:extLst xmlns:a="http://schemas.openxmlformats.org/drawingml/2006/main">
              <a:ext uri="{FF2B5EF4-FFF2-40B4-BE49-F238E27FC236}">
                <a16:creationId xmlns:a16="http://schemas.microsoft.com/office/drawing/2014/main" id="{B71DDDF3-A6F6-A2D9-7F68-A246AE82F73A}"/>
              </a:ext>
            </a:extLst>
          </p:cNvPr>
          <p:cNvSpPr>
            <a:spLocks xmlns:a="http://schemas.openxmlformats.org/drawingml/2006/main" noGrp="1"/>
          </p:cNvSpPr>
          <p:nvPr/>
        </p:nvSpPr>
        <p:spPr>
          <a:xfrm xmlns:a="http://schemas.openxmlformats.org/drawingml/2006/main">
            <a:off x="6558438" y="3250891"/>
            <a:ext cx="4986886" cy="597539"/>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marR="0" lvl="0" indent="0" algn="l" defTabSz="914400">
              <a:lnSpc>
                <a:spcPct val="100000"/>
              </a:lnSpc>
              <a:spcBef>
                <a:spcPts val="1300"/>
              </a:spcBef>
              <a:spcAft>
                <a:spcPts val="1300"/>
              </a:spcAft>
              <a:buClrTx/>
              <a:buSzTx/>
              <a:buFontTx/>
              <a:buNone/>
            </a:pPr>
            <a:r>
              <a:rPr sz="1600" b="0" i="0" u="none" strike="noStrike" cap="none" spc="0" baseline="0">
                <a:ln>
                  <a:noFill/>
                </a:ln>
                <a:latin typeface="Helvetica Neue"/>
                <a:ea typeface="Helvetica Neue"/>
                <a:cs typeface="Helvetica Neue"/>
              </a:rPr>
              <a:t>Gợi ý theo dịp, nốt hương và ngân sách; đo add-to-cart.</a:t>
            </a:r>
          </a:p>
        </p:txBody>
      </p:sp>
      <p:sp>
        <p:nvSpPr>
          <p:cNvPr id="17" name="TextBox 16">
            <a:extLst xmlns:a="http://schemas.openxmlformats.org/drawingml/2006/main">
              <a:ext uri="{FF2B5EF4-FFF2-40B4-BE49-F238E27FC236}">
                <a16:creationId xmlns:a16="http://schemas.microsoft.com/office/drawing/2014/main" id="{BAD06467-8163-39A0-0B9A-1A98533B6978}"/>
              </a:ext>
            </a:extLst>
          </p:cNvPr>
          <p:cNvSpPr>
            <a:spLocks xmlns:a="http://schemas.openxmlformats.org/drawingml/2006/main" noGrp="1"/>
          </p:cNvSpPr>
          <p:nvPr/>
        </p:nvSpPr>
        <p:spPr>
          <a:xfrm xmlns:a="http://schemas.openxmlformats.org/drawingml/2006/main">
            <a:off x="6555127" y="2793808"/>
            <a:ext cx="4986886" cy="312725"/>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marL="0" marR="0" lvl="0" indent="0" algn="l" defTabSz="914400">
              <a:lnSpc>
                <a:spcPct val="114000"/>
              </a:lnSpc>
              <a:spcBef>
                <a:spcPts val="0"/>
              </a:spcBef>
              <a:spcAft>
                <a:spcPts val="800"/>
              </a:spcAft>
              <a:buClrTx/>
              <a:buSzTx/>
              <a:buFontTx/>
              <a:buNone/>
            </a:pPr>
            <a:r>
              <a:rPr sz="1800" b="0" i="0" u="none" strike="noStrike" cap="none" spc="0" baseline="0">
                <a:ln>
                  <a:noFill/>
                </a:ln>
                <a:solidFill>
                  <a:srgbClr val="3357B8"/>
                </a:solidFill>
                <a:latin typeface="Helvetica Neue Medium"/>
                <a:ea typeface="Helvetica Neue Medium"/>
                <a:cs typeface="Helvetica Neue Medium"/>
              </a:rPr>
              <a:t>Tư vấn tuyển chọn</a:t>
            </a:r>
          </a:p>
        </p:txBody>
      </p:sp>
      <p:sp>
        <p:nvSpPr>
          <p:cNvPr id="18" name="Content Placeholder 10">
            <a:extLst xmlns:a="http://schemas.openxmlformats.org/drawingml/2006/main">
              <a:ext uri="{FF2B5EF4-FFF2-40B4-BE49-F238E27FC236}">
                <a16:creationId xmlns:a16="http://schemas.microsoft.com/office/drawing/2014/main" id="{E61F5831-A6CA-0036-3E5C-283D4EBAFE55}"/>
              </a:ext>
            </a:extLst>
          </p:cNvPr>
          <p:cNvSpPr>
            <a:spLocks xmlns:a="http://schemas.openxmlformats.org/drawingml/2006/main" noGrp="1"/>
          </p:cNvSpPr>
          <p:nvPr/>
        </p:nvSpPr>
        <p:spPr>
          <a:xfrm xmlns:a="http://schemas.openxmlformats.org/drawingml/2006/main">
            <a:off x="706278" y="5094931"/>
            <a:ext cx="4986886" cy="597539"/>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marR="0" lvl="0" indent="0" algn="l" defTabSz="914400">
              <a:lnSpc>
                <a:spcPct val="100000"/>
              </a:lnSpc>
              <a:spcBef>
                <a:spcPts val="1300"/>
              </a:spcBef>
              <a:spcAft>
                <a:spcPts val="1300"/>
              </a:spcAft>
              <a:buClrTx/>
              <a:buSzTx/>
              <a:buFontTx/>
              <a:buNone/>
            </a:pPr>
            <a:r>
              <a:rPr sz="1600" b="0" i="0" u="none" strike="noStrike" cap="none" spc="0" baseline="0">
                <a:ln>
                  <a:noFill/>
                </a:ln>
                <a:latin typeface="Helvetica Neue"/>
                <a:ea typeface="Helvetica Neue"/>
                <a:cs typeface="Helvetica Neue"/>
              </a:rPr>
              <a:t>Thử quyền lợi sau đơn giao thành công; đo repeat rate.</a:t>
            </a:r>
          </a:p>
        </p:txBody>
      </p:sp>
      <p:sp>
        <p:nvSpPr>
          <p:cNvPr id="19" name="TextBox 18">
            <a:extLst xmlns:a="http://schemas.openxmlformats.org/drawingml/2006/main">
              <a:ext uri="{FF2B5EF4-FFF2-40B4-BE49-F238E27FC236}">
                <a16:creationId xmlns:a16="http://schemas.microsoft.com/office/drawing/2014/main" id="{1283300B-2E76-54E3-B3E8-C4CE0DA323BE}"/>
              </a:ext>
            </a:extLst>
          </p:cNvPr>
          <p:cNvSpPr>
            <a:spLocks xmlns:a="http://schemas.openxmlformats.org/drawingml/2006/main" noGrp="1"/>
          </p:cNvSpPr>
          <p:nvPr/>
        </p:nvSpPr>
        <p:spPr>
          <a:xfrm xmlns:a="http://schemas.openxmlformats.org/drawingml/2006/main">
            <a:off x="702967" y="4637848"/>
            <a:ext cx="4986886" cy="312725"/>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marL="0" marR="0" lvl="0" indent="0" algn="l" defTabSz="914400">
              <a:lnSpc>
                <a:spcPct val="114000"/>
              </a:lnSpc>
              <a:spcBef>
                <a:spcPts val="0"/>
              </a:spcBef>
              <a:spcAft>
                <a:spcPts val="800"/>
              </a:spcAft>
              <a:buClrTx/>
              <a:buSzTx/>
              <a:buFontTx/>
              <a:buNone/>
            </a:pPr>
            <a:r>
              <a:rPr sz="1800" b="0" i="0" u="none" strike="noStrike" cap="none" spc="0" baseline="0">
                <a:ln>
                  <a:noFill/>
                </a:ln>
                <a:solidFill>
                  <a:srgbClr val="3357B8"/>
                </a:solidFill>
                <a:latin typeface="Helvetica Neue Medium"/>
                <a:ea typeface="Helvetica Neue Medium"/>
                <a:cs typeface="Helvetica Neue Medium"/>
              </a:rPr>
              <a:t>Khách quay lại</a:t>
            </a:r>
          </a:p>
        </p:txBody>
      </p:sp>
      <p:sp>
        <p:nvSpPr>
          <p:cNvPr id="20" name="Content Placeholder 10">
            <a:extLst xmlns:a="http://schemas.openxmlformats.org/drawingml/2006/main">
              <a:ext uri="{FF2B5EF4-FFF2-40B4-BE49-F238E27FC236}">
                <a16:creationId xmlns:a16="http://schemas.microsoft.com/office/drawing/2014/main" id="{91E87E4E-34C4-73A3-D9B4-5528035E3F32}"/>
              </a:ext>
            </a:extLst>
          </p:cNvPr>
          <p:cNvSpPr>
            <a:spLocks xmlns:a="http://schemas.openxmlformats.org/drawingml/2006/main" noGrp="1"/>
          </p:cNvSpPr>
          <p:nvPr/>
        </p:nvSpPr>
        <p:spPr>
          <a:xfrm xmlns:a="http://schemas.openxmlformats.org/drawingml/2006/main">
            <a:off x="6558438" y="5094931"/>
            <a:ext cx="4986886" cy="597539"/>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marR="0" lvl="0" indent="0" algn="l" defTabSz="914400">
              <a:lnSpc>
                <a:spcPct val="100000"/>
              </a:lnSpc>
              <a:spcBef>
                <a:spcPts val="1300"/>
              </a:spcBef>
              <a:spcAft>
                <a:spcPts val="1300"/>
              </a:spcAft>
              <a:buClrTx/>
              <a:buSzTx/>
              <a:buFontTx/>
              <a:buNone/>
            </a:pPr>
            <a:r>
              <a:rPr sz="1600" b="0" i="0" u="none" strike="noStrike" cap="none" spc="0" baseline="0">
                <a:ln>
                  <a:noFill/>
                </a:ln>
                <a:latin typeface="Helvetica Neue"/>
                <a:ea typeface="Helvetica Neue"/>
                <a:cs typeface="Helvetica Neue"/>
              </a:rPr>
              <a:t>Đo đơn tăng thêm và lãi sau giảm giá, tránh chỉ nhìn doanh thu.</a:t>
            </a:r>
          </a:p>
        </p:txBody>
      </p:sp>
      <p:sp>
        <p:nvSpPr>
          <p:cNvPr id="21" name="TextBox 20">
            <a:extLst xmlns:a="http://schemas.openxmlformats.org/drawingml/2006/main">
              <a:ext uri="{FF2B5EF4-FFF2-40B4-BE49-F238E27FC236}">
                <a16:creationId xmlns:a16="http://schemas.microsoft.com/office/drawing/2014/main" id="{4BBBD727-79F1-2502-A083-A18F5A754163}"/>
              </a:ext>
            </a:extLst>
          </p:cNvPr>
          <p:cNvSpPr>
            <a:spLocks xmlns:a="http://schemas.openxmlformats.org/drawingml/2006/main" noGrp="1"/>
          </p:cNvSpPr>
          <p:nvPr/>
        </p:nvSpPr>
        <p:spPr>
          <a:xfrm xmlns:a="http://schemas.openxmlformats.org/drawingml/2006/main">
            <a:off x="6555127" y="4637848"/>
            <a:ext cx="4986886" cy="312725"/>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marL="0" marR="0" lvl="0" indent="0" algn="l" defTabSz="914400">
              <a:lnSpc>
                <a:spcPct val="114000"/>
              </a:lnSpc>
              <a:spcBef>
                <a:spcPts val="0"/>
              </a:spcBef>
              <a:spcAft>
                <a:spcPts val="800"/>
              </a:spcAft>
              <a:buClrTx/>
              <a:buSzTx/>
              <a:buFontTx/>
              <a:buNone/>
            </a:pPr>
            <a:r>
              <a:rPr sz="1800" b="0" i="0" u="none" strike="noStrike" cap="none" spc="0" baseline="0">
                <a:ln>
                  <a:noFill/>
                </a:ln>
                <a:solidFill>
                  <a:srgbClr val="3357B8"/>
                </a:solidFill>
                <a:latin typeface="Helvetica Neue Medium"/>
                <a:ea typeface="Helvetica Neue Medium"/>
                <a:cs typeface="Helvetica Neue Medium"/>
              </a:rPr>
              <a:t>Voucher có kiểm soát</a:t>
            </a:r>
          </a:p>
        </p:txBody>
      </p:sp>
    </p:spTree>
    <p:extLst>
      <p:ext uri="{BB962C8B-B14F-4D97-AF65-F5344CB8AC3E}">
        <p14:creationId xmlns:p14="http://schemas.microsoft.com/office/powerpoint/2010/main" val="217953532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CCCB27A2-1D9F-6514-0821-C7CC3F675523}"/>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EFD6AB9A-5F9E-5F59-51AB-3C8734130965}" type="slidenum">
              <a:t>4</a:t>
            </a:fld>
            <a:endParaRPr/>
          </a:p>
        </p:txBody>
      </p:sp>
      <p:sp>
        <p:nvSpPr>
          <p:cNvPr id="10" name="Rounded Rectangle 9">
            <a:extLst xmlns:a="http://schemas.openxmlformats.org/drawingml/2006/main">
              <a:ext uri="{FF2B5EF4-FFF2-40B4-BE49-F238E27FC236}">
                <a16:creationId xmlns:a16="http://schemas.microsoft.com/office/drawing/2014/main" id="{8B4C5563-C118-E2D4-2A1A-F84171FF9E48}"/>
              </a:ext>
            </a:extLst>
          </p:cNvPr>
          <p:cNvSpPr>
            <a:spLocks xmlns:a="http://schemas.openxmlformats.org/drawingml/2006/main" noGrp="1"/>
          </p:cNvSpPr>
          <p:nvPr/>
        </p:nvSpPr>
        <p:spPr>
          <a:xfrm xmlns:a="http://schemas.openxmlformats.org/drawingml/2006/main">
            <a:off x="4308953" y="3365501"/>
            <a:ext cx="3568700" cy="2628900"/>
          </a:xfrm>
          <a:prstGeom xmlns:a="http://schemas.openxmlformats.org/drawingml/2006/main" prst="roundRect">
            <a:avLst>
              <a:gd name="adj" fmla="val 3585"/>
            </a:avLst>
          </a:prstGeom>
          <a:noFill xmlns:a="http://schemas.openxmlformats.org/drawingml/2006/main"/>
          <a:ln xmlns:a="http://schemas.openxmlformats.org/drawingml/2006/main" w="12700">
            <a:solidFill>
              <a:schemeClr val="accent2"/>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accent1"/>
              </a:solidFill>
            </a:endParaRPr>
          </a:p>
        </p:txBody>
      </p:sp>
      <p:sp>
        <p:nvSpPr>
          <p:cNvPr id="11" name="Rounded Rectangle 10">
            <a:extLst xmlns:a="http://schemas.openxmlformats.org/drawingml/2006/main">
              <a:ext uri="{FF2B5EF4-FFF2-40B4-BE49-F238E27FC236}">
                <a16:creationId xmlns:a16="http://schemas.microsoft.com/office/drawing/2014/main" id="{87EC77EB-07E7-2818-9132-6416EC5EFF5D}"/>
              </a:ext>
            </a:extLst>
          </p:cNvPr>
          <p:cNvSpPr>
            <a:spLocks xmlns:a="http://schemas.openxmlformats.org/drawingml/2006/main" noGrp="1"/>
          </p:cNvSpPr>
          <p:nvPr/>
        </p:nvSpPr>
        <p:spPr>
          <a:xfrm xmlns:a="http://schemas.openxmlformats.org/drawingml/2006/main">
            <a:off x="8229600" y="3365501"/>
            <a:ext cx="3568700" cy="2628900"/>
          </a:xfrm>
          <a:prstGeom xmlns:a="http://schemas.openxmlformats.org/drawingml/2006/main" prst="roundRect">
            <a:avLst>
              <a:gd name="adj" fmla="val 3585"/>
            </a:avLst>
          </a:prstGeom>
          <a:noFill xmlns:a="http://schemas.openxmlformats.org/drawingml/2006/main"/>
          <a:ln xmlns:a="http://schemas.openxmlformats.org/drawingml/2006/main" w="12700">
            <a:solidFill>
              <a:schemeClr val="accent2"/>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accent1"/>
              </a:solidFill>
            </a:endParaRPr>
          </a:p>
        </p:txBody>
      </p:sp>
      <p:sp>
        <p:nvSpPr>
          <p:cNvPr id="12" name="Content Placeholder 9">
            <a:extLst xmlns:a="http://schemas.openxmlformats.org/drawingml/2006/main">
              <a:ext uri="{FF2B5EF4-FFF2-40B4-BE49-F238E27FC236}">
                <a16:creationId xmlns:a16="http://schemas.microsoft.com/office/drawing/2014/main" id="{14F9DBD7-0427-326B-17D5-5DD215C447E9}"/>
              </a:ext>
            </a:extLst>
          </p:cNvPr>
          <p:cNvSpPr>
            <a:spLocks xmlns:a="http://schemas.openxmlformats.org/drawingml/2006/main" noGrp="1"/>
          </p:cNvSpPr>
          <p:nvPr/>
        </p:nvSpPr>
        <p:spPr>
          <a:xfrm xmlns:a="http://schemas.openxmlformats.org/drawingml/2006/main">
            <a:off x="4621821" y="4146160"/>
            <a:ext cx="2949339" cy="143287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600">
                <a:solidFill>
                  <a:schemeClr val="accent1"/>
                </a:solidFill>
                <a:latin typeface="Roboto Medium"/>
                <a:ea typeface="Roboto Medium"/>
                <a:cs typeface="Roboto Medium"/>
              </a:rPr>
              <a:t>Flash Sale có thể nhận SoldQuantity mẫu khi nâng cấp schema. Số này không đại diện cho đơn bán thật.</a:t>
            </a:r>
          </a:p>
        </p:txBody>
      </p:sp>
      <p:sp>
        <p:nvSpPr>
          <p:cNvPr id="13" name="Content Placeholder 10">
            <a:extLst xmlns:a="http://schemas.openxmlformats.org/drawingml/2006/main">
              <a:ext uri="{FF2B5EF4-FFF2-40B4-BE49-F238E27FC236}">
                <a16:creationId xmlns:a16="http://schemas.microsoft.com/office/drawing/2014/main" id="{A81FFF27-06E1-B925-B772-E8C07A029EE7}"/>
              </a:ext>
            </a:extLst>
          </p:cNvPr>
          <p:cNvSpPr>
            <a:spLocks xmlns:a="http://schemas.openxmlformats.org/drawingml/2006/main" noGrp="1"/>
          </p:cNvSpPr>
          <p:nvPr/>
        </p:nvSpPr>
        <p:spPr>
          <a:xfrm xmlns:a="http://schemas.openxmlformats.org/drawingml/2006/main">
            <a:off x="8536094" y="4146160"/>
            <a:ext cx="2949339" cy="143287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600">
                <a:solidFill>
                  <a:schemeClr val="accent1"/>
                </a:solidFill>
                <a:latin typeface="Roboto Medium"/>
                <a:ea typeface="Roboto Medium"/>
                <a:cs typeface="Roboto Medium"/>
              </a:rPr>
              <a:t>Chưa có giá vốn, chi phí giao, hoàn/hủy và voucher thực để xác nhận lãi trên mỗi đơn.</a:t>
            </a:r>
          </a:p>
        </p:txBody>
      </p:sp>
      <p:sp>
        <p:nvSpPr>
          <p:cNvPr id="14" name="Google Shape;340;p61">
            <a:extLst xmlns:a="http://schemas.openxmlformats.org/drawingml/2006/main">
              <a:ext uri="{FF2B5EF4-FFF2-40B4-BE49-F238E27FC236}">
                <a16:creationId xmlns:a16="http://schemas.microsoft.com/office/drawing/2014/main" id="{D182FC54-B4D0-2FD9-7909-F4321F70186F}"/>
              </a:ext>
            </a:extLst>
          </p:cNvPr>
          <p:cNvSpPr>
            <a:spLocks xmlns:a="http://schemas.openxmlformats.org/drawingml/2006/main" noGrp="1"/>
          </p:cNvSpPr>
          <p:nvPr/>
        </p:nvSpPr>
        <p:spPr>
          <a:xfrm xmlns:a="http://schemas.openxmlformats.org/drawingml/2006/main">
            <a:off x="4627645" y="3694101"/>
            <a:ext cx="233806" cy="233717"/>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chemeClr val="accent1"/>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endParaRPr sz="2400">
              <a:solidFill>
                <a:srgbClr val="FFFFFF"/>
              </a:solidFill>
              <a:latin typeface="Helvetica Neue"/>
              <a:ea typeface="Helvetica Neue"/>
              <a:cs typeface="Helvetica Neue"/>
            </a:endParaRPr>
          </a:p>
        </p:txBody>
      </p:sp>
      <p:sp>
        <p:nvSpPr>
          <p:cNvPr id="15" name="Google Shape;340;p61">
            <a:extLst xmlns:a="http://schemas.openxmlformats.org/drawingml/2006/main">
              <a:ext uri="{FF2B5EF4-FFF2-40B4-BE49-F238E27FC236}">
                <a16:creationId xmlns:a16="http://schemas.microsoft.com/office/drawing/2014/main" id="{12304657-C94E-6AEC-95B3-FF04FD52D51C}"/>
              </a:ext>
            </a:extLst>
          </p:cNvPr>
          <p:cNvSpPr>
            <a:spLocks xmlns:a="http://schemas.openxmlformats.org/drawingml/2006/main" noGrp="1"/>
          </p:cNvSpPr>
          <p:nvPr/>
        </p:nvSpPr>
        <p:spPr>
          <a:xfrm xmlns:a="http://schemas.openxmlformats.org/drawingml/2006/main">
            <a:off x="8533270" y="3694102"/>
            <a:ext cx="233806" cy="233717"/>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chemeClr val="accent1"/>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endParaRPr sz="2400">
              <a:solidFill>
                <a:srgbClr val="FFFFFF"/>
              </a:solidFill>
              <a:latin typeface="Helvetica Neue"/>
              <a:ea typeface="Helvetica Neue"/>
              <a:cs typeface="Helvetica Neue"/>
            </a:endParaRPr>
          </a:p>
        </p:txBody>
      </p:sp>
      <p:sp>
        <p:nvSpPr>
          <p:cNvPr id="2" name="Footer Placeholder 1">
            <a:extLst xmlns:a="http://schemas.openxmlformats.org/drawingml/2006/main">
              <a:ext uri="{FF2B5EF4-FFF2-40B4-BE49-F238E27FC236}">
                <a16:creationId xmlns:a16="http://schemas.microsoft.com/office/drawing/2014/main" id="{7FAC9A03-119F-393D-2295-2587BE7C4F73}"/>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
        <p:nvSpPr>
          <p:cNvPr id="4" name="Title 3">
            <a:extLst xmlns:a="http://schemas.openxmlformats.org/drawingml/2006/main">
              <a:ext uri="{FF2B5EF4-FFF2-40B4-BE49-F238E27FC236}">
                <a16:creationId xmlns:a16="http://schemas.microsoft.com/office/drawing/2014/main" id="{2F7C895E-DE9C-ED5D-5936-715D047B60E4}"/>
              </a:ext>
            </a:extLst>
          </p:cNvPr>
          <p:cNvSpPr>
            <a:spLocks xmlns:a="http://schemas.openxmlformats.org/drawingml/2006/main" noGrp="1"/>
          </p:cNvSpPr>
          <p:nvPr>
            <p:ph type="title" idx="0"/>
          </p:nvPr>
        </p:nvSpPr>
        <p:spPr>
          <a:xfrm xmlns:a="http://schemas.openxmlformats.org/drawingml/2006/main">
            <a:off x="393700" y="344008"/>
            <a:ext cx="11404600" cy="755665"/>
          </a:xfrm>
        </p:spPr>
        <p:txBody>
          <a:bodyPr xmlns:a="http://schemas.openxmlformats.org/drawingml/2006/main"/>
          <a:lstStyle xmlns:a="http://schemas.openxmlformats.org/drawingml/2006/main"/>
          <a:p xmlns:a="http://schemas.openxmlformats.org/drawingml/2006/main">
            <a:r>
              <a:rPr>
                <a:solidFill>
                  <a:schemeClr val="accent1"/>
                </a:solidFill>
              </a:rPr>
              <a:t>Ba rủi ro làm yếu niềm tin</a:t>
            </a:r>
          </a:p>
        </p:txBody>
      </p:sp>
      <p:sp>
        <p:nvSpPr>
          <p:cNvPr id="5" name="Rounded Rectangle 4">
            <a:extLst xmlns:a="http://schemas.openxmlformats.org/drawingml/2006/main">
              <a:ext uri="{FF2B5EF4-FFF2-40B4-BE49-F238E27FC236}">
                <a16:creationId xmlns:a16="http://schemas.microsoft.com/office/drawing/2014/main" id="{E49F3E50-E7DD-037F-1687-7A3A08473928}"/>
              </a:ext>
            </a:extLst>
          </p:cNvPr>
          <p:cNvSpPr>
            <a:spLocks xmlns:a="http://schemas.openxmlformats.org/drawingml/2006/main" noGrp="1"/>
          </p:cNvSpPr>
          <p:nvPr/>
        </p:nvSpPr>
        <p:spPr>
          <a:xfrm xmlns:a="http://schemas.openxmlformats.org/drawingml/2006/main">
            <a:off x="422753" y="3365501"/>
            <a:ext cx="3568700" cy="2628900"/>
          </a:xfrm>
          <a:prstGeom xmlns:a="http://schemas.openxmlformats.org/drawingml/2006/main" prst="roundRect">
            <a:avLst>
              <a:gd name="adj" fmla="val 3585"/>
            </a:avLst>
          </a:prstGeom>
          <a:noFill xmlns:a="http://schemas.openxmlformats.org/drawingml/2006/main"/>
          <a:ln xmlns:a="http://schemas.openxmlformats.org/drawingml/2006/main" w="12700">
            <a:solidFill>
              <a:schemeClr val="accent2"/>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accent1"/>
              </a:solidFill>
            </a:endParaRPr>
          </a:p>
        </p:txBody>
      </p:sp>
      <p:sp>
        <p:nvSpPr>
          <p:cNvPr id="6" name="Content Placeholder 9">
            <a:extLst xmlns:a="http://schemas.openxmlformats.org/drawingml/2006/main">
              <a:ext uri="{FF2B5EF4-FFF2-40B4-BE49-F238E27FC236}">
                <a16:creationId xmlns:a16="http://schemas.microsoft.com/office/drawing/2014/main" id="{895137EF-1168-9543-8134-200AA74D8FBB}"/>
              </a:ext>
            </a:extLst>
          </p:cNvPr>
          <p:cNvSpPr>
            <a:spLocks xmlns:a="http://schemas.openxmlformats.org/drawingml/2006/main" noGrp="1"/>
          </p:cNvSpPr>
          <p:nvPr/>
        </p:nvSpPr>
        <p:spPr>
          <a:xfrm xmlns:a="http://schemas.openxmlformats.org/drawingml/2006/main">
            <a:off x="735621" y="4146160"/>
            <a:ext cx="2949339" cy="143287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600">
                <a:solidFill>
                  <a:schemeClr val="accent1"/>
                </a:solidFill>
                <a:latin typeface="Roboto Medium"/>
                <a:ea typeface="Roboto Medium"/>
                <a:cs typeface="Roboto Medium"/>
              </a:rPr>
              <a:t>Thông tin đăng nhập admin mặc định trong cấu hình Development; luồng startup có thể đặt lại mật khẩu.</a:t>
            </a:r>
          </a:p>
        </p:txBody>
      </p:sp>
      <p:sp>
        <p:nvSpPr>
          <p:cNvPr id="7" name="Google Shape;340;p61">
            <a:extLst xmlns:a="http://schemas.openxmlformats.org/drawingml/2006/main">
              <a:ext uri="{FF2B5EF4-FFF2-40B4-BE49-F238E27FC236}">
                <a16:creationId xmlns:a16="http://schemas.microsoft.com/office/drawing/2014/main" id="{A926CAA1-5F44-3769-A410-E058BAEE3B13}"/>
              </a:ext>
            </a:extLst>
          </p:cNvPr>
          <p:cNvSpPr>
            <a:spLocks xmlns:a="http://schemas.openxmlformats.org/drawingml/2006/main" noGrp="1"/>
          </p:cNvSpPr>
          <p:nvPr/>
        </p:nvSpPr>
        <p:spPr>
          <a:xfrm xmlns:a="http://schemas.openxmlformats.org/drawingml/2006/main">
            <a:off x="741445" y="3694101"/>
            <a:ext cx="233806" cy="233717"/>
          </a:xfrm>
          <a:custGeom xmlns:a="http://schemas.openxmlformats.org/drawingml/2006/main">
            <a:rect l="l" t="t" r="r" b="b"/>
            <a:pathLst>
              <a:path w="21600" h="21600">
                <a:moveTo>
                  <a:pt x="10800" y="2160"/>
                </a:moveTo>
                <a:cubicBezTo>
                  <a:pt x="6029" y="2160"/>
                  <a:pt x="2160" y="6029"/>
                  <a:pt x="2160" y="10800"/>
                </a:cubicBezTo>
                <a:cubicBezTo>
                  <a:pt x="2160" y="15571"/>
                  <a:pt x="6029" y="19440"/>
                  <a:pt x="10800" y="19440"/>
                </a:cubicBezTo>
                <a:cubicBezTo>
                  <a:pt x="15571" y="19440"/>
                  <a:pt x="19440" y="15571"/>
                  <a:pt x="19440" y="10800"/>
                </a:cubicBezTo>
                <a:cubicBezTo>
                  <a:pt x="19440" y="6029"/>
                  <a:pt x="15571" y="2160"/>
                  <a:pt x="10800" y="2160"/>
                </a:cubicBezTo>
                <a:close/>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5201" y="6407"/>
                </a:moveTo>
                <a:cubicBezTo>
                  <a:pt x="15689" y="6750"/>
                  <a:pt x="15807" y="7424"/>
                  <a:pt x="15463" y="7911"/>
                </a:cubicBezTo>
                <a:lnTo>
                  <a:pt x="10333" y="15201"/>
                </a:lnTo>
                <a:cubicBezTo>
                  <a:pt x="10144" y="15470"/>
                  <a:pt x="9844" y="15637"/>
                  <a:pt x="9517" y="15658"/>
                </a:cubicBezTo>
                <a:cubicBezTo>
                  <a:pt x="9190" y="15678"/>
                  <a:pt x="8871" y="15549"/>
                  <a:pt x="8651" y="15307"/>
                </a:cubicBezTo>
                <a:lnTo>
                  <a:pt x="5951" y="12337"/>
                </a:lnTo>
                <a:cubicBezTo>
                  <a:pt x="5550" y="11895"/>
                  <a:pt x="5583" y="11213"/>
                  <a:pt x="6023" y="10811"/>
                </a:cubicBezTo>
                <a:cubicBezTo>
                  <a:pt x="6465" y="10410"/>
                  <a:pt x="7147" y="10443"/>
                  <a:pt x="7549" y="10883"/>
                </a:cubicBezTo>
                <a:lnTo>
                  <a:pt x="9342" y="12856"/>
                </a:lnTo>
                <a:lnTo>
                  <a:pt x="13697" y="6669"/>
                </a:lnTo>
                <a:cubicBezTo>
                  <a:pt x="14040" y="6181"/>
                  <a:pt x="14714" y="6063"/>
                  <a:pt x="15201" y="6407"/>
                </a:cubicBezTo>
                <a:close/>
              </a:path>
            </a:pathLst>
          </a:custGeom>
          <a:solidFill xmlns:a="http://schemas.openxmlformats.org/drawingml/2006/main">
            <a:schemeClr val="accent1"/>
          </a:solidFill>
          <a:ln xmlns:a="http://schemas.openxmlformats.org/drawingml/2006/main">
            <a:noFill/>
          </a:ln>
        </p:spPr>
        <p:txBody>
          <a:bodyPr xmlns:a="http://schemas.openxmlformats.org/drawingml/2006/main" spcFirstLastPara="1" wrap="square" lIns="38100" tIns="38100" rIns="38100" bIns="38100" anchor="ctr">
            <a:noAutofit/>
          </a:bodyPr>
          <a:lstStyle xmlns:a="http://schemas.openxmlformats.org/drawingml/2006/main"/>
          <a:p xmlns:a="http://schemas.openxmlformats.org/drawingml/2006/main">
            <a:pPr algn="ctr">
              <a:buClr>
                <a:srgbClr val="FFFFFF"/>
              </a:buClr>
              <a:buSzPts val="2400"/>
              <a:buNone/>
            </a:pPr>
            <a:endParaRPr sz="2400">
              <a:solidFill>
                <a:srgbClr val="FFFFFF"/>
              </a:solidFill>
              <a:latin typeface="Helvetica Neue"/>
              <a:ea typeface="Helvetica Neue"/>
              <a:cs typeface="Helvetica Neue"/>
            </a:endParaRPr>
          </a:p>
        </p:txBody>
      </p:sp>
      <p:sp>
        <p:nvSpPr>
          <p:cNvPr id="17" name="Google Shape;534;p58">
            <a:extLst xmlns:a="http://schemas.openxmlformats.org/drawingml/2006/main">
              <a:ext uri="{FF2B5EF4-FFF2-40B4-BE49-F238E27FC236}">
                <a16:creationId xmlns:a16="http://schemas.microsoft.com/office/drawing/2014/main" id="{208EF3D1-5C57-8D4F-49C8-21BD74420786}"/>
              </a:ext>
            </a:extLst>
          </p:cNvPr>
          <p:cNvSpPr>
            <a:spLocks xmlns:a="http://schemas.openxmlformats.org/drawingml/2006/main" noGrp="1"/>
          </p:cNvSpPr>
          <p:nvPr/>
        </p:nvSpPr>
        <p:spPr>
          <a:xfrm xmlns:a="http://schemas.openxmlformats.org/drawingml/2006/main">
            <a:off x="393700" y="1820543"/>
            <a:ext cx="11404600" cy="1326615"/>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Tập trung vào tính xác thực của tài khoản, số liệu và lợi nhuận.</a:t>
            </a:r>
          </a:p>
        </p:txBody>
      </p:sp>
      <p:sp>
        <p:nvSpPr>
          <p:cNvPr id="18" name="Google Shape;534;p58">
            <a:extLst xmlns:a="http://schemas.openxmlformats.org/drawingml/2006/main">
              <a:ext uri="{FF2B5EF4-FFF2-40B4-BE49-F238E27FC236}">
                <a16:creationId xmlns:a16="http://schemas.microsoft.com/office/drawing/2014/main" id="{93CCF932-231F-7EA0-6520-FFB192B4EFA5}"/>
              </a:ext>
            </a:extLst>
          </p:cNvPr>
          <p:cNvSpPr>
            <a:spLocks xmlns:a="http://schemas.openxmlformats.org/drawingml/2006/main" noGrp="1"/>
          </p:cNvSpPr>
          <p:nvPr/>
        </p:nvSpPr>
        <p:spPr>
          <a:xfrm xmlns:a="http://schemas.openxmlformats.org/drawingml/2006/main">
            <a:off x="393699" y="1318016"/>
            <a:ext cx="11404599" cy="402442"/>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2000">
                <a:latin typeface="+mj-lt"/>
                <a:ea typeface="+mj-lt"/>
                <a:cs typeface="+mj-lt"/>
              </a:rPr>
              <a:t>Xử lý trước khi mở cho khách thật</a:t>
            </a:r>
            <a:endParaRPr sz="2000">
              <a:latin typeface="+mj-lt"/>
              <a:ea typeface="+mj-lt"/>
              <a:cs typeface="+mj-lt"/>
            </a:endParaRPr>
          </a:p>
        </p:txBody>
      </p:sp>
    </p:spTree>
    <p:extLst>
      <p:ext uri="{BB962C8B-B14F-4D97-AF65-F5344CB8AC3E}">
        <p14:creationId xmlns:p14="http://schemas.microsoft.com/office/powerpoint/2010/main" val="156618307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534" name="Google Shape;534;p58">
            <a:extLst xmlns:a="http://schemas.openxmlformats.org/drawingml/2006/main">
              <a:ext uri="{FF2B5EF4-FFF2-40B4-BE49-F238E27FC236}">
                <a16:creationId xmlns:a16="http://schemas.microsoft.com/office/drawing/2014/main" id="{C936F667-D10C-5292-AA3B-96BE2CAC84D9}"/>
              </a:ext>
            </a:extLst>
          </p:cNvPr>
          <p:cNvSpPr>
            <a:spLocks xmlns:a="http://schemas.openxmlformats.org/drawingml/2006/main" noGrp="1"/>
          </p:cNvSpPr>
          <p:nvPr>
            <p:ph idx="1"/>
          </p:nvPr>
        </p:nvSpPr>
        <p:spPr>
          <a:xfrm xmlns:a="http://schemas.openxmlformats.org/drawingml/2006/main">
            <a:off x="393700" y="2192694"/>
            <a:ext cx="5537200" cy="3801706"/>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800"/>
              </a:spcAft>
              <a:buNone/>
            </a:pPr>
            <a:r>
              <a:rPr sz="1400"/>
              <a:t>FUNNEL</a:t>
            </a:r>
          </a:p>
          <a:p xmlns:a="http://schemas.openxmlformats.org/drawingml/2006/main">
            <a:pPr marL="0" indent="0">
              <a:lnSpc>
                <a:spcPct val="114000"/>
              </a:lnSpc>
              <a:spcBef>
                <a:spcPts val="0"/>
              </a:spcBef>
              <a:spcAft>
                <a:spcPts val="800"/>
              </a:spcAft>
              <a:buNone/>
            </a:pPr>
            <a:r>
              <a:rPr sz="1400"/>
              <a:t>Xem sản phẩm → thêm giỏ → bắt đầu checkout → đặt đơn → giao thành công.</a:t>
            </a:r>
          </a:p>
          <a:p xmlns:a="http://schemas.openxmlformats.org/drawingml/2006/main">
            <a:pPr marL="0" indent="0">
              <a:lnSpc>
                <a:spcPct val="114000"/>
              </a:lnSpc>
              <a:spcBef>
                <a:spcPts val="0"/>
              </a:spcBef>
              <a:spcAft>
                <a:spcPts val="800"/>
              </a:spcAft>
              <a:buNone/>
            </a:pPr>
            <a:r>
              <a:rPr sz="1400"/>
              <a:t>Theo dõi conversion, abandon rate, AOV và repeat rate; tách guest/customer.</a:t>
            </a:r>
          </a:p>
        </p:txBody>
      </p:sp>
      <p:sp>
        <p:nvSpPr>
          <p:cNvPr id="532" name="Google Shape;532;p58">
            <a:extLst xmlns:a="http://schemas.openxmlformats.org/drawingml/2006/main">
              <a:ext uri="{FF2B5EF4-FFF2-40B4-BE49-F238E27FC236}">
                <a16:creationId xmlns:a16="http://schemas.microsoft.com/office/drawing/2014/main" id="{C5959EFF-52C4-5B31-3FCE-BFF3A75CF3CF}"/>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EE5B3003-2C54-13C6-9832-7637201064DE}" type="slidenum">
              <a:t>5</a:t>
            </a:fld>
            <a:endParaRPr/>
          </a:p>
        </p:txBody>
      </p:sp>
      <p:sp>
        <p:nvSpPr>
          <p:cNvPr id="533" name="Google Shape;533;p58">
            <a:extLst xmlns:a="http://schemas.openxmlformats.org/drawingml/2006/main">
              <a:ext uri="{FF2B5EF4-FFF2-40B4-BE49-F238E27FC236}">
                <a16:creationId xmlns:a16="http://schemas.microsoft.com/office/drawing/2014/main" id="{469ED97F-6CDE-1EE8-6602-FE9CC4D732BE}"/>
              </a:ext>
            </a:extLst>
          </p:cNvPr>
          <p:cNvSpPr>
            <a:spLocks xmlns:a="http://schemas.openxmlformats.org/drawingml/2006/main" noGrp="1"/>
          </p:cNvSpPr>
          <p:nvPr>
            <p:ph type="title" idx="0"/>
          </p:nvPr>
        </p:nvSpPr>
        <p:spPr>
          <a:xfrm xmlns:a="http://schemas.openxmlformats.org/drawingml/2006/main">
            <a:off x="393700" y="355026"/>
            <a:ext cx="7835900" cy="1029274"/>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rPr>
                <a:solidFill>
                  <a:schemeClr val="accent1"/>
                </a:solidFill>
              </a:rPr>
              <a:t>Đo funnel và lãi đóng góp</a:t>
            </a:r>
          </a:p>
        </p:txBody>
      </p:sp>
      <p:sp>
        <p:nvSpPr>
          <p:cNvPr id="2" name="Google Shape;534;p58">
            <a:extLst xmlns:a="http://schemas.openxmlformats.org/drawingml/2006/main">
              <a:ext uri="{FF2B5EF4-FFF2-40B4-BE49-F238E27FC236}">
                <a16:creationId xmlns:a16="http://schemas.microsoft.com/office/drawing/2014/main" id="{A4A94F3C-B1B2-7289-7098-7C66C8A291D6}"/>
              </a:ext>
            </a:extLst>
          </p:cNvPr>
          <p:cNvSpPr>
            <a:spLocks xmlns:a="http://schemas.openxmlformats.org/drawingml/2006/main" noGrp="1"/>
          </p:cNvSpPr>
          <p:nvPr/>
        </p:nvSpPr>
        <p:spPr>
          <a:xfrm xmlns:a="http://schemas.openxmlformats.org/drawingml/2006/main">
            <a:off x="6265111" y="2192694"/>
            <a:ext cx="5537200" cy="3801706"/>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400"/>
              <a:t>KINH TẾ ĐƠN HÀNG</a:t>
            </a:r>
          </a:p>
          <a:p xmlns:a="http://schemas.openxmlformats.org/drawingml/2006/main">
            <a:pPr marL="0" indent="0">
              <a:lnSpc>
                <a:spcPct val="114000"/>
              </a:lnSpc>
              <a:spcBef>
                <a:spcPts val="0"/>
              </a:spcBef>
              <a:spcAft>
                <a:spcPts val="800"/>
              </a:spcAft>
              <a:buFont typeface="Arial"/>
              <a:buNone/>
            </a:pPr>
            <a:r>
              <a:rPr sz="1400"/>
              <a:t>Giá bán − giá vốn − giao hàng − giảm giá − chi phí hoàn/hủy.</a:t>
            </a:r>
          </a:p>
          <a:p xmlns:a="http://schemas.openxmlformats.org/drawingml/2006/main">
            <a:pPr marL="0" indent="0">
              <a:lnSpc>
                <a:spcPct val="114000"/>
              </a:lnSpc>
              <a:spcBef>
                <a:spcPts val="0"/>
              </a:spcBef>
              <a:spcAft>
                <a:spcPts val="800"/>
              </a:spcAft>
              <a:buFont typeface="Arial"/>
              <a:buNone/>
            </a:pPr>
            <a:r>
              <a:rPr sz="1400"/>
              <a:t>Báo cáo theo sản phẩm, voucher và cohort; chỉ tính doanh thu khi đã giao và thanh toán.</a:t>
            </a:r>
          </a:p>
        </p:txBody>
      </p:sp>
      <p:sp>
        <p:nvSpPr>
          <p:cNvPr id="6" name="Footer Placeholder 5">
            <a:extLst xmlns:a="http://schemas.openxmlformats.org/drawingml/2006/main">
              <a:ext uri="{FF2B5EF4-FFF2-40B4-BE49-F238E27FC236}">
                <a16:creationId xmlns:a16="http://schemas.microsoft.com/office/drawing/2014/main" id="{43787D66-ADFA-FEAC-9070-B9C216CEFEAB}"/>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
        <p:nvSpPr>
          <p:cNvPr id="3" name="Google Shape;534;p58">
            <a:extLst xmlns:a="http://schemas.openxmlformats.org/drawingml/2006/main">
              <a:ext uri="{FF2B5EF4-FFF2-40B4-BE49-F238E27FC236}">
                <a16:creationId xmlns:a16="http://schemas.microsoft.com/office/drawing/2014/main" id="{FD46BF2A-8122-2E0A-E8CC-886653CF64DA}"/>
              </a:ext>
            </a:extLst>
          </p:cNvPr>
          <p:cNvSpPr>
            <a:spLocks xmlns:a="http://schemas.openxmlformats.org/drawingml/2006/main" noGrp="1"/>
          </p:cNvSpPr>
          <p:nvPr/>
        </p:nvSpPr>
        <p:spPr>
          <a:xfrm xmlns:a="http://schemas.openxmlformats.org/drawingml/2006/main">
            <a:off x="393700" y="1310936"/>
            <a:ext cx="5537200" cy="719318"/>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2000">
                <a:latin typeface="+mj-lt"/>
                <a:ea typeface="+mj-lt"/>
                <a:cs typeface="+mj-lt"/>
              </a:rPr>
              <a:t>Instrument tối thiểu để biết pilot có hiệu quả hay không.</a:t>
            </a:r>
          </a:p>
        </p:txBody>
      </p:sp>
    </p:spTree>
    <p:extLst>
      <p:ext uri="{BB962C8B-B14F-4D97-AF65-F5344CB8AC3E}">
        <p14:creationId xmlns:p14="http://schemas.microsoft.com/office/powerpoint/2010/main" val="54622172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6" name="Content Placeholder 15">
            <a:extLst xmlns:a="http://schemas.openxmlformats.org/drawingml/2006/main">
              <a:ext uri="{FF2B5EF4-FFF2-40B4-BE49-F238E27FC236}">
                <a16:creationId xmlns:a16="http://schemas.microsoft.com/office/drawing/2014/main" id="{0BCC789E-87DC-C416-5298-C7F6E26A9533}"/>
              </a:ext>
            </a:extLst>
          </p:cNvPr>
          <p:cNvSpPr>
            <a:spLocks xmlns:a="http://schemas.openxmlformats.org/drawingml/2006/main" noGrp="1"/>
          </p:cNvSpPr>
          <p:nvPr>
            <p:ph idx="1"/>
          </p:nvPr>
        </p:nvSpPr>
        <p:spPr>
          <a:xfrm xmlns:a="http://schemas.openxmlformats.org/drawingml/2006/main">
            <a:off x="393700" y="3822700"/>
            <a:ext cx="2595934" cy="1168400"/>
          </a:xfrm>
        </p:spPr>
        <p:txBody>
          <a:bodyPr xmlns:a="http://schemas.openxmlformats.org/drawingml/2006/main">
            <a:noAutofit/>
          </a:bodyPr>
          <a:lstStyle xmlns:a="http://schemas.openxmlformats.org/drawingml/2006/main"/>
          <a:p xmlns:a="http://schemas.openxmlformats.org/drawingml/2006/main">
            <a:pPr marL="0" indent="0">
              <a:lnSpc>
                <a:spcPct val="114000"/>
              </a:lnSpc>
              <a:spcBef>
                <a:spcPts val="0"/>
              </a:spcBef>
              <a:spcAft>
                <a:spcPts val="800"/>
              </a:spcAft>
              <a:buNone/>
            </a:pPr>
            <a:r>
              <a:rPr>
                <a:solidFill>
                  <a:schemeClr val="accent1"/>
                </a:solidFill>
                <a:latin typeface="Roboto Medium"/>
                <a:ea typeface="Roboto Medium"/>
                <a:cs typeface="Roboto Medium"/>
              </a:rPr>
              <a:t>Gỡ credential mặc định; loại bỏ số bán demo khỏi dữ liệu production.</a:t>
            </a:r>
          </a:p>
        </p:txBody>
      </p:sp>
      <p:sp>
        <p:nvSpPr>
          <p:cNvPr id="4" name="Slide Number Placeholder 3">
            <a:extLst xmlns:a="http://schemas.openxmlformats.org/drawingml/2006/main">
              <a:ext uri="{FF2B5EF4-FFF2-40B4-BE49-F238E27FC236}">
                <a16:creationId xmlns:a16="http://schemas.microsoft.com/office/drawing/2014/main" id="{6BBF0163-E4B1-61D1-776D-45470B16F0F4}"/>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8C630A04-5A25-9E0C-9436-126091DB86B3}" type="slidenum">
              <a:t>6</a:t>
            </a:fld>
            <a:endParaRPr sz="1100"/>
          </a:p>
        </p:txBody>
      </p:sp>
      <p:sp>
        <p:nvSpPr>
          <p:cNvPr id="11" name="Title 10">
            <a:extLst xmlns:a="http://schemas.openxmlformats.org/drawingml/2006/main">
              <a:ext uri="{FF2B5EF4-FFF2-40B4-BE49-F238E27FC236}">
                <a16:creationId xmlns:a16="http://schemas.microsoft.com/office/drawing/2014/main" id="{9759E2FE-9F02-E1B4-EBBC-AA8624ACC339}"/>
              </a:ext>
            </a:extLst>
          </p:cNvPr>
          <p:cNvSpPr>
            <a:spLocks xmlns:a="http://schemas.openxmlformats.org/drawingml/2006/main" noGrp="1"/>
          </p:cNvSpPr>
          <p:nvPr>
            <p:ph type="title" idx="0"/>
          </p:nvPr>
        </p:nvSpPr>
        <p:spPr>
          <a:xfrm xmlns:a="http://schemas.openxmlformats.org/drawingml/2006/main">
            <a:off x="393700" y="344008"/>
            <a:ext cx="7846838" cy="1034893"/>
          </a:xfrm>
        </p:spPr>
        <p:txBody>
          <a:bodyPr xmlns:a="http://schemas.openxmlformats.org/drawingml/2006/main"/>
          <a:lstStyle xmlns:a="http://schemas.openxmlformats.org/drawingml/2006/main"/>
          <a:p xmlns:a="http://schemas.openxmlformats.org/drawingml/2006/main">
            <a:r>
              <a:rPr>
                <a:solidFill>
                  <a:schemeClr val="accent1"/>
                </a:solidFill>
              </a:rPr>
              <a:t>Lộ trình từ kiểm soát rủi ro đến mở rộng</a:t>
            </a:r>
          </a:p>
        </p:txBody>
      </p:sp>
      <p:sp>
        <p:nvSpPr>
          <p:cNvPr id="17" name="Text Placeholder 16">
            <a:extLst xmlns:a="http://schemas.openxmlformats.org/drawingml/2006/main">
              <a:ext uri="{FF2B5EF4-FFF2-40B4-BE49-F238E27FC236}">
                <a16:creationId xmlns:a16="http://schemas.microsoft.com/office/drawing/2014/main" id="{986AEEE5-7F7B-65AD-1D88-9157CF0514D8}"/>
              </a:ext>
            </a:extLst>
          </p:cNvPr>
          <p:cNvSpPr>
            <a:spLocks xmlns:a="http://schemas.openxmlformats.org/drawingml/2006/main" noGrp="1"/>
          </p:cNvSpPr>
          <p:nvPr>
            <p:ph type="body" idx="12"/>
          </p:nvPr>
        </p:nvSpPr>
        <p:spPr>
          <a:xfrm xmlns:a="http://schemas.openxmlformats.org/drawingml/2006/main">
            <a:off x="4317119" y="3822700"/>
            <a:ext cx="2595934" cy="1168400"/>
          </a:xfrm>
        </p:spPr>
        <p:txBody>
          <a:bodyPr xmlns:a="http://schemas.openxmlformats.org/drawingml/2006/main">
            <a:noAutofit/>
          </a:bodyPr>
          <a:lstStyle xmlns:a="http://schemas.openxmlformats.org/drawingml/2006/main"/>
          <a:p xmlns:a="http://schemas.openxmlformats.org/drawingml/2006/main">
            <a:pPr marL="0" marR="0" lvl="0" indent="0">
              <a:lnSpc>
                <a:spcPct val="114000"/>
              </a:lnSpc>
              <a:spcBef>
                <a:spcPts val="0"/>
              </a:spcBef>
              <a:spcAft>
                <a:spcPts val="800"/>
              </a:spcAft>
              <a:buClrTx/>
              <a:buSzTx/>
              <a:buNone/>
            </a:pPr>
            <a:r>
              <a:rPr sz="1600">
                <a:solidFill>
                  <a:schemeClr val="accent1"/>
                </a:solidFill>
                <a:latin typeface="Roboto Medium"/>
                <a:ea typeface="Roboto Medium"/>
                <a:cs typeface="Roboto Medium"/>
              </a:rPr>
              <a:t>Chạy pilot nhỏ; đo funnel, đơn giao thành công, chi phí và voucher.</a:t>
            </a:r>
          </a:p>
        </p:txBody>
      </p:sp>
      <p:sp>
        <p:nvSpPr>
          <p:cNvPr id="18" name="Content Placeholder 17">
            <a:extLst xmlns:a="http://schemas.openxmlformats.org/drawingml/2006/main">
              <a:ext uri="{FF2B5EF4-FFF2-40B4-BE49-F238E27FC236}">
                <a16:creationId xmlns:a16="http://schemas.microsoft.com/office/drawing/2014/main" id="{B32A8A18-E9FA-02B4-6667-53C019EC43C0}"/>
              </a:ext>
            </a:extLst>
          </p:cNvPr>
          <p:cNvSpPr>
            <a:spLocks xmlns:a="http://schemas.openxmlformats.org/drawingml/2006/main" noGrp="1"/>
          </p:cNvSpPr>
          <p:nvPr>
            <p:ph idx="13"/>
          </p:nvPr>
        </p:nvSpPr>
        <p:spPr>
          <a:xfrm xmlns:a="http://schemas.openxmlformats.org/drawingml/2006/main">
            <a:off x="8240538" y="3822700"/>
            <a:ext cx="2595934" cy="1168400"/>
          </a:xfrm>
        </p:spPr>
        <p:txBody>
          <a:bodyPr xmlns:a="http://schemas.openxmlformats.org/drawingml/2006/main">
            <a:noAutofit/>
          </a:bodyPr>
          <a:lstStyle xmlns:a="http://schemas.openxmlformats.org/drawingml/2006/main"/>
          <a:p xmlns:a="http://schemas.openxmlformats.org/drawingml/2006/main">
            <a:pPr marL="0" marR="0" lvl="0" indent="0">
              <a:lnSpc>
                <a:spcPct val="114000"/>
              </a:lnSpc>
              <a:spcBef>
                <a:spcPts val="0"/>
              </a:spcBef>
              <a:spcAft>
                <a:spcPts val="800"/>
              </a:spcAft>
              <a:buClrTx/>
              <a:buSzTx/>
              <a:buNone/>
            </a:pPr>
            <a:r>
              <a:rPr>
                <a:solidFill>
                  <a:schemeClr val="accent1"/>
                </a:solidFill>
                <a:latin typeface="Roboto Medium"/>
                <a:ea typeface="Roboto Medium"/>
                <a:cs typeface="Roboto Medium"/>
              </a:rPr>
              <a:t>Chỉ mở rộng khi lãi đóng góp và mua lại đạt ngưỡng đã thống nhất.</a:t>
            </a:r>
          </a:p>
        </p:txBody>
      </p:sp>
      <p:cxnSp>
        <p:nvCxnSpPr>
          <p:cNvPr id="2" name="Google Shape;2259;p159">
            <a:extLst xmlns:a="http://schemas.openxmlformats.org/drawingml/2006/main">
              <a:ext uri="{FF2B5EF4-FFF2-40B4-BE49-F238E27FC236}">
                <a16:creationId xmlns:a16="http://schemas.microsoft.com/office/drawing/2014/main" id="{20994F3C-E3DD-47BE-9297-43F3C772EA32}"/>
              </a:ext>
            </a:extLst>
          </p:cNvPr>
          <p:cNvCxnSpPr>
            <a:stCxn xmlns:a="http://schemas.openxmlformats.org/drawingml/2006/main" id="3" idx="2"/>
          </p:cNvCxnSpPr>
          <p:nvPr/>
        </p:nvCxnSpPr>
        <p:spPr>
          <a:xfrm xmlns:a="http://schemas.openxmlformats.org/drawingml/2006/main">
            <a:off x="337718" y="3373753"/>
            <a:ext cx="12245400" cy="300"/>
          </a:xfrm>
          <a:prstGeom xmlns:a="http://schemas.openxmlformats.org/drawingml/2006/main" prst="straightConnector1">
            <a:avLst/>
          </a:prstGeom>
          <a:ln xmlns:a="http://schemas.openxmlformats.org/drawingml/2006/main" w="9525" cap="flat">
            <a:solidFill>
              <a:schemeClr val="accent1"/>
            </a:solidFill>
            <a:prstDash val="solid"/>
            <a:round/>
            <a:headEnd type="none" w="med" len="med"/>
            <a:tailEnd type="none" w="med" len="med"/>
          </a:ln>
        </p:spPr>
      </p:cxnSp>
      <p:sp>
        <p:nvSpPr>
          <p:cNvPr id="3" name="Google Shape;2260;p159">
            <a:extLst xmlns:a="http://schemas.openxmlformats.org/drawingml/2006/main">
              <a:ext uri="{FF2B5EF4-FFF2-40B4-BE49-F238E27FC236}">
                <a16:creationId xmlns:a16="http://schemas.microsoft.com/office/drawing/2014/main" id="{39A86B1D-EA5D-3FA6-7D83-8F21D70E330E}"/>
              </a:ext>
            </a:extLst>
          </p:cNvPr>
          <p:cNvSpPr>
            <a:spLocks xmlns:a="http://schemas.openxmlformats.org/drawingml/2006/main" noGrp="1"/>
          </p:cNvSpPr>
          <p:nvPr/>
        </p:nvSpPr>
        <p:spPr>
          <a:xfrm xmlns:a="http://schemas.openxmlformats.org/drawingml/2006/main">
            <a:off x="337718" y="3320203"/>
            <a:ext cx="107100" cy="107100"/>
          </a:xfrm>
          <a:prstGeom xmlns:a="http://schemas.openxmlformats.org/drawingml/2006/main" prst="ellipse">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5" name="Google Shape;2261;p159">
            <a:extLst xmlns:a="http://schemas.openxmlformats.org/drawingml/2006/main">
              <a:ext uri="{FF2B5EF4-FFF2-40B4-BE49-F238E27FC236}">
                <a16:creationId xmlns:a16="http://schemas.microsoft.com/office/drawing/2014/main" id="{A1013DAF-A2C3-BC42-73D5-9D8AB55DCA94}"/>
              </a:ext>
            </a:extLst>
          </p:cNvPr>
          <p:cNvSpPr>
            <a:spLocks xmlns:a="http://schemas.openxmlformats.org/drawingml/2006/main" noGrp="1"/>
          </p:cNvSpPr>
          <p:nvPr/>
        </p:nvSpPr>
        <p:spPr>
          <a:xfrm xmlns:a="http://schemas.openxmlformats.org/drawingml/2006/main">
            <a:off x="4251750" y="3320203"/>
            <a:ext cx="107100" cy="107100"/>
          </a:xfrm>
          <a:prstGeom xmlns:a="http://schemas.openxmlformats.org/drawingml/2006/main" prst="ellipse">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6" name="Google Shape;2262;p159">
            <a:extLst xmlns:a="http://schemas.openxmlformats.org/drawingml/2006/main">
              <a:ext uri="{FF2B5EF4-FFF2-40B4-BE49-F238E27FC236}">
                <a16:creationId xmlns:a16="http://schemas.microsoft.com/office/drawing/2014/main" id="{4654A74A-2C40-A8C6-E9F9-43C58A3ADE20}"/>
              </a:ext>
            </a:extLst>
          </p:cNvPr>
          <p:cNvSpPr>
            <a:spLocks xmlns:a="http://schemas.openxmlformats.org/drawingml/2006/main" noGrp="1"/>
          </p:cNvSpPr>
          <p:nvPr/>
        </p:nvSpPr>
        <p:spPr>
          <a:xfrm xmlns:a="http://schemas.openxmlformats.org/drawingml/2006/main">
            <a:off x="8176050" y="3320203"/>
            <a:ext cx="107100" cy="107100"/>
          </a:xfrm>
          <a:prstGeom xmlns:a="http://schemas.openxmlformats.org/drawingml/2006/main" prst="ellipse">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9" name="Content Placeholder 15">
            <a:extLst xmlns:a="http://schemas.openxmlformats.org/drawingml/2006/main">
              <a:ext uri="{FF2B5EF4-FFF2-40B4-BE49-F238E27FC236}">
                <a16:creationId xmlns:a16="http://schemas.microsoft.com/office/drawing/2014/main" id="{76C75857-E8EA-1B37-0464-3C7048D7FBEB}"/>
              </a:ext>
            </a:extLst>
          </p:cNvPr>
          <p:cNvSpPr>
            <a:spLocks xmlns:a="http://schemas.openxmlformats.org/drawingml/2006/main" noGrp="1"/>
          </p:cNvSpPr>
          <p:nvPr/>
        </p:nvSpPr>
        <p:spPr>
          <a:xfrm xmlns:a="http://schemas.openxmlformats.org/drawingml/2006/main">
            <a:off x="393700" y="2843266"/>
            <a:ext cx="1612900" cy="2624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b="1">
                <a:solidFill>
                  <a:schemeClr val="accent1"/>
                </a:solidFill>
                <a:latin typeface="Roboto SemiBold"/>
                <a:ea typeface="Roboto SemiBold"/>
                <a:cs typeface="Roboto SemiBold"/>
              </a:rPr>
              <a:t>BƯỚC 1 • BẢO VỆ</a:t>
            </a:r>
          </a:p>
        </p:txBody>
      </p:sp>
      <p:sp>
        <p:nvSpPr>
          <p:cNvPr id="13" name="Content Placeholder 15">
            <a:extLst xmlns:a="http://schemas.openxmlformats.org/drawingml/2006/main">
              <a:ext uri="{FF2B5EF4-FFF2-40B4-BE49-F238E27FC236}">
                <a16:creationId xmlns:a16="http://schemas.microsoft.com/office/drawing/2014/main" id="{76AEECBA-C292-6302-8A8E-7EB14A54E420}"/>
              </a:ext>
            </a:extLst>
          </p:cNvPr>
          <p:cNvSpPr>
            <a:spLocks xmlns:a="http://schemas.openxmlformats.org/drawingml/2006/main" noGrp="1"/>
          </p:cNvSpPr>
          <p:nvPr/>
        </p:nvSpPr>
        <p:spPr>
          <a:xfrm xmlns:a="http://schemas.openxmlformats.org/drawingml/2006/main">
            <a:off x="4294187" y="2843266"/>
            <a:ext cx="1612900" cy="2624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b="1">
                <a:solidFill>
                  <a:schemeClr val="accent1"/>
                </a:solidFill>
                <a:latin typeface="Roboto SemiBold"/>
                <a:ea typeface="Roboto SemiBold"/>
                <a:cs typeface="Roboto SemiBold"/>
              </a:rPr>
              <a:t>BƯỚC 2 • PILOT</a:t>
            </a:r>
          </a:p>
        </p:txBody>
      </p:sp>
      <p:sp>
        <p:nvSpPr>
          <p:cNvPr id="14" name="Content Placeholder 15">
            <a:extLst xmlns:a="http://schemas.openxmlformats.org/drawingml/2006/main">
              <a:ext uri="{FF2B5EF4-FFF2-40B4-BE49-F238E27FC236}">
                <a16:creationId xmlns:a16="http://schemas.microsoft.com/office/drawing/2014/main" id="{95982BB0-2387-9BAA-9F14-F45500C04700}"/>
              </a:ext>
            </a:extLst>
          </p:cNvPr>
          <p:cNvSpPr>
            <a:spLocks xmlns:a="http://schemas.openxmlformats.org/drawingml/2006/main" noGrp="1"/>
          </p:cNvSpPr>
          <p:nvPr/>
        </p:nvSpPr>
        <p:spPr>
          <a:xfrm xmlns:a="http://schemas.openxmlformats.org/drawingml/2006/main">
            <a:off x="8223249" y="2843266"/>
            <a:ext cx="1612900" cy="2624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b="1">
                <a:solidFill>
                  <a:schemeClr val="accent1"/>
                </a:solidFill>
                <a:latin typeface="Roboto SemiBold"/>
                <a:ea typeface="Roboto SemiBold"/>
                <a:cs typeface="Roboto SemiBold"/>
              </a:rPr>
              <a:t>BƯỚC 3 • MỞ RỘNG</a:t>
            </a:r>
          </a:p>
        </p:txBody>
      </p:sp>
      <p:sp>
        <p:nvSpPr>
          <p:cNvPr id="7" name="Footer Placeholder 6">
            <a:extLst xmlns:a="http://schemas.openxmlformats.org/drawingml/2006/main">
              <a:ext uri="{FF2B5EF4-FFF2-40B4-BE49-F238E27FC236}">
                <a16:creationId xmlns:a16="http://schemas.microsoft.com/office/drawing/2014/main" id="{3AC3A10F-8642-8154-9AEA-7110D289C62E}"/>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endParaRPr sz="1100"/>
          </a:p>
        </p:txBody>
      </p:sp>
    </p:spTree>
    <p:extLst>
      <p:ext uri="{BB962C8B-B14F-4D97-AF65-F5344CB8AC3E}">
        <p14:creationId xmlns:p14="http://schemas.microsoft.com/office/powerpoint/2010/main" val="3446338916"/>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32011EE4-C416-3EA2-180D-62404CE47D07}"/>
              </a:ext>
            </a:extLst>
          </p:cNvPr>
          <p:cNvSpPr>
            <a:spLocks xmlns:a="http://schemas.openxmlformats.org/drawingml/2006/main" noGrp="1"/>
          </p:cNvSpPr>
          <p:nvPr>
            <p:ph type="ctrTitle" idx="0"/>
          </p:nvPr>
        </p:nvSpPr>
        <p:spPr>
          <a:xfrm xmlns:a="http://schemas.openxmlformats.org/drawingml/2006/main">
            <a:off x="393700" y="937510"/>
            <a:ext cx="9448800" cy="2491490"/>
          </a:xfrm>
        </p:spPr>
        <p:txBody>
          <a:bodyPr xmlns:a="http://schemas.openxmlformats.org/drawingml/2006/main">
            <a:noAutofit/>
          </a:bodyPr>
          <a:lstStyle xmlns:a="http://schemas.openxmlformats.org/drawingml/2006/main"/>
          <a:p xmlns:a="http://schemas.openxmlformats.org/drawingml/2006/main">
            <a:r>
              <a:rPr sz="6500">
                <a:solidFill>
                  <a:schemeClr val="accent1"/>
                </a:solidFill>
              </a:rPr>
              <a:t>Ba quyết định để chốt pilot</a:t>
            </a:r>
          </a:p>
        </p:txBody>
      </p:sp>
      <p:sp>
        <p:nvSpPr>
          <p:cNvPr id="5" name="Subtitle 4">
            <a:extLst xmlns:a="http://schemas.openxmlformats.org/drawingml/2006/main">
              <a:ext uri="{FF2B5EF4-FFF2-40B4-BE49-F238E27FC236}">
                <a16:creationId xmlns:a16="http://schemas.microsoft.com/office/drawing/2014/main" id="{119B400D-E218-8301-7E00-C5A55230DE5D}"/>
              </a:ext>
            </a:extLst>
          </p:cNvPr>
          <p:cNvSpPr>
            <a:spLocks xmlns:a="http://schemas.openxmlformats.org/drawingml/2006/main" noGrp="1"/>
          </p:cNvSpPr>
          <p:nvPr>
            <p:ph type="subTitle" idx="1"/>
          </p:nvPr>
        </p:nvSpPr>
        <p:spPr>
          <a:xfrm xmlns:a="http://schemas.openxmlformats.org/drawingml/2006/main">
            <a:off x="441201" y="4532466"/>
            <a:ext cx="6458364" cy="1388024"/>
          </a:xfrm>
        </p:spPr>
        <p:txBody>
          <a:bodyPr xmlns:a="http://schemas.openxmlformats.org/drawingml/2006/main">
            <a:noAutofit/>
          </a:bodyPr>
          <a:lstStyle xmlns:a="http://schemas.openxmlformats.org/drawingml/2006/main"/>
          <a:p xmlns:a="http://schemas.openxmlformats.org/drawingml/2006/main">
            <a:pPr>
              <a:lnSpc>
                <a:spcPct val="120000"/>
              </a:lnSpc>
              <a:buNone/>
            </a:pPr>
            <a:r>
              <a:rPr sz="1600">
                <a:solidFill>
                  <a:schemeClr val="accent2">
                    <a:lumMod val="50000"/>
                  </a:schemeClr>
                </a:solidFill>
              </a:rPr>
              <a:t>Phân khúc khách hàng • Sản phẩm chủ lực • Ngưỡng lãi đóng góp</a:t>
            </a:r>
          </a:p>
        </p:txBody>
      </p:sp>
      <p:sp>
        <p:nvSpPr>
          <p:cNvPr id="3" name="Straight Connector 2">
            <a:extLst xmlns:a="http://schemas.openxmlformats.org/drawingml/2006/main">
              <a:ext uri="{FF2B5EF4-FFF2-40B4-BE49-F238E27FC236}">
                <a16:creationId xmlns:a16="http://schemas.microsoft.com/office/drawing/2014/main" id="{E82A6458-3B6B-40DE-98E0-B640C37370C4}"/>
              </a:ext>
            </a:extLst>
          </p:cNvPr>
          <p:cNvSpPr>
            <a:spLocks xmlns:a="http://schemas.openxmlformats.org/drawingml/2006/main" noGrp="1"/>
          </p:cNvSpPr>
          <p:nvPr/>
        </p:nvSpPr>
        <p:spPr>
          <a:xfrm xmlns:a="http://schemas.openxmlformats.org/drawingml/2006/main">
            <a:off x="-183260" y="3934067"/>
            <a:ext cx="12558520" cy="0"/>
          </a:xfrm>
          <a:prstGeom xmlns:a="http://schemas.openxmlformats.org/drawingml/2006/main" prst="line">
            <a:avLst/>
          </a:prstGeom>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Tree>
    <p:extLst>
      <p:ext uri="{BB962C8B-B14F-4D97-AF65-F5344CB8AC3E}">
        <p14:creationId xmlns:p14="http://schemas.microsoft.com/office/powerpoint/2010/main" val="858355452"/>
      </p:ext>
    </p:extLst>
  </p:cSld>
</p:sld>
</file>

<file path=ppt/theme/theme1.xml><?xml version="1.0" encoding="utf-8"?>
<a:theme xmlns:a="http://schemas.openxmlformats.org/drawingml/2006/main" name="Default Codex Theme">
  <a:themeElements>
    <a:clrScheme name="Theme 2">
      <a:dk1>
        <a:srgbClr val="000000"/>
      </a:dk1>
      <a:lt1>
        <a:srgbClr val="FFFFFF"/>
      </a:lt1>
      <a:dk2>
        <a:srgbClr val="0E2841"/>
      </a:dk2>
      <a:lt2>
        <a:srgbClr val="FAFCFE"/>
      </a:lt2>
      <a:accent1>
        <a:srgbClr val="3357B8"/>
      </a:accent1>
      <a:accent2>
        <a:srgbClr val="CFD2D9"/>
      </a:accent2>
      <a:accent3>
        <a:srgbClr val="196B24"/>
      </a:accent3>
      <a:accent4>
        <a:srgbClr val="0F9ED5"/>
      </a:accent4>
      <a:accent5>
        <a:srgbClr val="A02B93"/>
      </a:accent5>
      <a:accent6>
        <a:srgbClr val="4EA72E"/>
      </a:accent6>
      <a:hlink>
        <a:srgbClr val="467886"/>
      </a:hlink>
      <a:folHlink>
        <a:srgbClr val="96607D"/>
      </a:folHlink>
    </a:clrScheme>
    <a:fontScheme name="Lora Roboto">
      <a:majorFont>
        <a:latin typeface="Lora"/>
        <a:ea typeface=""/>
        <a:cs typeface=""/>
      </a:majorFont>
      <a:minorFont>
        <a:latin typeface="Roboto"/>
        <a:ea typeface=""/>
        <a:cs typeface=""/>
      </a:minorFont>
    </a:fontScheme>
    <a:fmtScheme name="Theme 2">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2026-10-15T07:19:57.5000000Z</dcterms:created>
  <dcterms:modified xsi:type="dcterms:W3CDTF">2026-10-15T07:19:57.5000000Z</dcterms:modified>
</coreProperties>
</file>